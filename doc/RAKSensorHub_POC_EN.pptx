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56" r:id="rId4"/>
    <p:sldId id="330" r:id="rId6"/>
    <p:sldId id="326" r:id="rId7"/>
    <p:sldId id="331" r:id="rId8"/>
    <p:sldId id="335" r:id="rId9"/>
    <p:sldId id="334" r:id="rId10"/>
    <p:sldId id="333" r:id="rId11"/>
    <p:sldId id="327" r:id="rId12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0" userDrawn="1">
          <p15:clr>
            <a:srgbClr val="A4A3A4"/>
          </p15:clr>
        </p15:guide>
        <p15:guide id="2" pos="3814" userDrawn="1">
          <p15:clr>
            <a:srgbClr val="A4A3A4"/>
          </p15:clr>
        </p15:guide>
        <p15:guide id="3" orient="horz" pos="1510" userDrawn="1">
          <p15:clr>
            <a:srgbClr val="A4A3A4"/>
          </p15:clr>
        </p15:guide>
        <p15:guide id="4" pos="4901" userDrawn="1">
          <p15:clr>
            <a:srgbClr val="A4A3A4"/>
          </p15:clr>
        </p15:guide>
        <p15:guide id="5" pos="3371" userDrawn="1">
          <p15:clr>
            <a:srgbClr val="A4A3A4"/>
          </p15:clr>
        </p15:guide>
        <p15:guide id="6" pos="564" userDrawn="1">
          <p15:clr>
            <a:srgbClr val="A4A3A4"/>
          </p15:clr>
        </p15:guide>
        <p15:guide id="7" pos="36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B5FE"/>
    <a:srgbClr val="D9D9D9"/>
    <a:srgbClr val="0072BC"/>
    <a:srgbClr val="65C5FF"/>
    <a:srgbClr val="72C4FE"/>
    <a:srgbClr val="C8DFF5"/>
    <a:srgbClr val="CCE3F9"/>
    <a:srgbClr val="53B8FF"/>
    <a:srgbClr val="BFBFBF"/>
    <a:srgbClr val="016A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43" autoAdjust="0"/>
    <p:restoredTop sz="92605" autoAdjust="0"/>
  </p:normalViewPr>
  <p:slideViewPr>
    <p:cSldViewPr snapToGrid="0" showGuides="1">
      <p:cViewPr varScale="1">
        <p:scale>
          <a:sx n="99" d="100"/>
          <a:sy n="99" d="100"/>
        </p:scale>
        <p:origin x="972" y="90"/>
      </p:cViewPr>
      <p:guideLst>
        <p:guide orient="horz" pos="2310"/>
        <p:guide pos="3814"/>
        <p:guide orient="horz" pos="1510"/>
        <p:guide pos="4901"/>
        <p:guide pos="3371"/>
        <p:guide pos="564"/>
        <p:guide pos="3653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12.xml"/><Relationship Id="rId18" Type="http://schemas.openxmlformats.org/officeDocument/2006/relationships/customXml" Target="../customXml/item3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5EFBB-9E89-403E-98E6-4D4D255B976D}" type="datetimeFigureOut">
              <a:rPr lang="en-PH" smtClean="0"/>
            </a:fld>
            <a:endParaRPr lang="en-PH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BAF4C-125D-4390-B842-24334AC623A1}" type="slidenum">
              <a:rPr lang="en-PH" smtClean="0"/>
            </a:fld>
            <a:endParaRPr lang="en-PH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9BAF4C-125D-4390-B842-24334AC623A1}" type="slidenum">
              <a:rPr lang="en-PH" smtClean="0"/>
            </a:fld>
            <a:endParaRPr lang="en-PH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9BAF4C-125D-4390-B842-24334AC623A1}" type="slidenum">
              <a:rPr lang="en-PH" smtClean="0"/>
            </a:fld>
            <a:endParaRPr lang="en-PH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9BAF4C-125D-4390-B842-24334AC623A1}" type="slidenum">
              <a:rPr lang="en-PH" smtClean="0"/>
            </a:fld>
            <a:endParaRPr lang="en-PH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-18660" y="0"/>
            <a:ext cx="12209172" cy="6858000"/>
            <a:chOff x="-18660" y="0"/>
            <a:chExt cx="12209172" cy="6858000"/>
          </a:xfrm>
        </p:grpSpPr>
        <p:pic>
          <p:nvPicPr>
            <p:cNvPr id="7" name="BG_Blue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486" y="0"/>
              <a:ext cx="12189026" cy="6858000"/>
            </a:xfrm>
            <a:prstGeom prst="rect">
              <a:avLst/>
            </a:prstGeom>
          </p:spPr>
        </p:pic>
        <p:sp>
          <p:nvSpPr>
            <p:cNvPr id="8" name="Gradient"/>
            <p:cNvSpPr/>
            <p:nvPr userDrawn="1"/>
          </p:nvSpPr>
          <p:spPr>
            <a:xfrm flipH="1">
              <a:off x="-1866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4482">
                    <a:alpha val="80000"/>
                  </a:srgbClr>
                </a:gs>
                <a:gs pos="48000">
                  <a:srgbClr val="006AC6">
                    <a:alpha val="70000"/>
                  </a:srgbClr>
                </a:gs>
                <a:gs pos="100000">
                  <a:srgbClr val="006AC6">
                    <a:alpha val="5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753" y="2016918"/>
            <a:ext cx="3879850" cy="211058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PH" dirty="0"/>
          </a:p>
        </p:txBody>
      </p:sp>
      <p:sp>
        <p:nvSpPr>
          <p:cNvPr id="6" name="Parallelogram 11"/>
          <p:cNvSpPr/>
          <p:nvPr userDrawn="1"/>
        </p:nvSpPr>
        <p:spPr>
          <a:xfrm flipH="1" flipV="1">
            <a:off x="4892430" y="-5443"/>
            <a:ext cx="7312920" cy="6872968"/>
          </a:xfrm>
          <a:custGeom>
            <a:avLst/>
            <a:gdLst>
              <a:gd name="connsiteX0" fmla="*/ 0 w 9483602"/>
              <a:gd name="connsiteY0" fmla="*/ 6858000 h 6858000"/>
              <a:gd name="connsiteX1" fmla="*/ 922950 w 9483602"/>
              <a:gd name="connsiteY1" fmla="*/ 0 h 6858000"/>
              <a:gd name="connsiteX2" fmla="*/ 9483602 w 9483602"/>
              <a:gd name="connsiteY2" fmla="*/ 0 h 6858000"/>
              <a:gd name="connsiteX3" fmla="*/ 8560652 w 9483602"/>
              <a:gd name="connsiteY3" fmla="*/ 6858000 h 6858000"/>
              <a:gd name="connsiteX4" fmla="*/ 0 w 9483602"/>
              <a:gd name="connsiteY4" fmla="*/ 6858000 h 6858000"/>
              <a:gd name="connsiteX0-1" fmla="*/ 0 w 9483602"/>
              <a:gd name="connsiteY0-2" fmla="*/ 6872515 h 6872515"/>
              <a:gd name="connsiteX1-3" fmla="*/ 3840322 w 9483602"/>
              <a:gd name="connsiteY1-4" fmla="*/ 0 h 6872515"/>
              <a:gd name="connsiteX2-5" fmla="*/ 9483602 w 9483602"/>
              <a:gd name="connsiteY2-6" fmla="*/ 14515 h 6872515"/>
              <a:gd name="connsiteX3-7" fmla="*/ 8560652 w 9483602"/>
              <a:gd name="connsiteY3-8" fmla="*/ 6872515 h 6872515"/>
              <a:gd name="connsiteX4-9" fmla="*/ 0 w 9483602"/>
              <a:gd name="connsiteY4-10" fmla="*/ 6872515 h 6872515"/>
              <a:gd name="connsiteX0-11" fmla="*/ 0 w 9483602"/>
              <a:gd name="connsiteY0-12" fmla="*/ 6858000 h 6858000"/>
              <a:gd name="connsiteX1-13" fmla="*/ 2192950 w 9483602"/>
              <a:gd name="connsiteY1-14" fmla="*/ 7257 h 6858000"/>
              <a:gd name="connsiteX2-15" fmla="*/ 9483602 w 9483602"/>
              <a:gd name="connsiteY2-16" fmla="*/ 0 h 6858000"/>
              <a:gd name="connsiteX3-17" fmla="*/ 8560652 w 9483602"/>
              <a:gd name="connsiteY3-18" fmla="*/ 6858000 h 6858000"/>
              <a:gd name="connsiteX4-19" fmla="*/ 0 w 9483602"/>
              <a:gd name="connsiteY4-20" fmla="*/ 6858000 h 6858000"/>
              <a:gd name="connsiteX0-21" fmla="*/ 0 w 9483602"/>
              <a:gd name="connsiteY0-22" fmla="*/ 6858000 h 6858000"/>
              <a:gd name="connsiteX1-23" fmla="*/ 2275500 w 9483602"/>
              <a:gd name="connsiteY1-24" fmla="*/ 73932 h 6858000"/>
              <a:gd name="connsiteX2-25" fmla="*/ 9483602 w 9483602"/>
              <a:gd name="connsiteY2-26" fmla="*/ 0 h 6858000"/>
              <a:gd name="connsiteX3-27" fmla="*/ 8560652 w 9483602"/>
              <a:gd name="connsiteY3-28" fmla="*/ 6858000 h 6858000"/>
              <a:gd name="connsiteX4-29" fmla="*/ 0 w 9483602"/>
              <a:gd name="connsiteY4-30" fmla="*/ 6858000 h 6858000"/>
              <a:gd name="connsiteX0-31" fmla="*/ 0 w 9483602"/>
              <a:gd name="connsiteY0-32" fmla="*/ 6869793 h 6869793"/>
              <a:gd name="connsiteX1-33" fmla="*/ 2180250 w 9483602"/>
              <a:gd name="connsiteY1-34" fmla="*/ 0 h 6869793"/>
              <a:gd name="connsiteX2-35" fmla="*/ 9483602 w 9483602"/>
              <a:gd name="connsiteY2-36" fmla="*/ 11793 h 6869793"/>
              <a:gd name="connsiteX3-37" fmla="*/ 8560652 w 9483602"/>
              <a:gd name="connsiteY3-38" fmla="*/ 6869793 h 6869793"/>
              <a:gd name="connsiteX4-39" fmla="*/ 0 w 9483602"/>
              <a:gd name="connsiteY4-40" fmla="*/ 6869793 h 6869793"/>
              <a:gd name="connsiteX0-41" fmla="*/ 1185250 w 7303352"/>
              <a:gd name="connsiteY0-42" fmla="*/ 6872968 h 6872968"/>
              <a:gd name="connsiteX1-43" fmla="*/ 0 w 7303352"/>
              <a:gd name="connsiteY1-44" fmla="*/ 0 h 6872968"/>
              <a:gd name="connsiteX2-45" fmla="*/ 7303352 w 7303352"/>
              <a:gd name="connsiteY2-46" fmla="*/ 11793 h 6872968"/>
              <a:gd name="connsiteX3-47" fmla="*/ 6380402 w 7303352"/>
              <a:gd name="connsiteY3-48" fmla="*/ 6869793 h 6872968"/>
              <a:gd name="connsiteX4-49" fmla="*/ 1185250 w 7303352"/>
              <a:gd name="connsiteY4-50" fmla="*/ 6872968 h 6872968"/>
              <a:gd name="connsiteX0-51" fmla="*/ 0 w 7305552"/>
              <a:gd name="connsiteY0-52" fmla="*/ 6879318 h 6879318"/>
              <a:gd name="connsiteX1-53" fmla="*/ 2200 w 7305552"/>
              <a:gd name="connsiteY1-54" fmla="*/ 0 h 6879318"/>
              <a:gd name="connsiteX2-55" fmla="*/ 7305552 w 7305552"/>
              <a:gd name="connsiteY2-56" fmla="*/ 11793 h 6879318"/>
              <a:gd name="connsiteX3-57" fmla="*/ 6382602 w 7305552"/>
              <a:gd name="connsiteY3-58" fmla="*/ 6869793 h 6879318"/>
              <a:gd name="connsiteX4-59" fmla="*/ 0 w 7305552"/>
              <a:gd name="connsiteY4-60" fmla="*/ 6879318 h 6879318"/>
              <a:gd name="connsiteX0-61" fmla="*/ 0 w 7305552"/>
              <a:gd name="connsiteY0-62" fmla="*/ 6879318 h 6879318"/>
              <a:gd name="connsiteX1-63" fmla="*/ 2200 w 7305552"/>
              <a:gd name="connsiteY1-64" fmla="*/ 0 h 6879318"/>
              <a:gd name="connsiteX2-65" fmla="*/ 7305552 w 7305552"/>
              <a:gd name="connsiteY2-66" fmla="*/ 11793 h 6879318"/>
              <a:gd name="connsiteX3-67" fmla="*/ 6382602 w 7305552"/>
              <a:gd name="connsiteY3-68" fmla="*/ 6869793 h 6879318"/>
              <a:gd name="connsiteX4-69" fmla="*/ 0 w 7305552"/>
              <a:gd name="connsiteY4-70" fmla="*/ 6879318 h 6879318"/>
              <a:gd name="connsiteX0-71" fmla="*/ 7368 w 7312920"/>
              <a:gd name="connsiteY0-72" fmla="*/ 6872968 h 6872968"/>
              <a:gd name="connsiteX1-73" fmla="*/ 43 w 7312920"/>
              <a:gd name="connsiteY1-74" fmla="*/ 0 h 6872968"/>
              <a:gd name="connsiteX2-75" fmla="*/ 7312920 w 7312920"/>
              <a:gd name="connsiteY2-76" fmla="*/ 5443 h 6872968"/>
              <a:gd name="connsiteX3-77" fmla="*/ 6389970 w 7312920"/>
              <a:gd name="connsiteY3-78" fmla="*/ 6863443 h 6872968"/>
              <a:gd name="connsiteX4-79" fmla="*/ 7368 w 7312920"/>
              <a:gd name="connsiteY4-80" fmla="*/ 6872968 h 68729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312920" h="6872968">
                <a:moveTo>
                  <a:pt x="7368" y="6872968"/>
                </a:moveTo>
                <a:cubicBezTo>
                  <a:pt x="8101" y="4579862"/>
                  <a:pt x="-690" y="2293106"/>
                  <a:pt x="43" y="0"/>
                </a:cubicBezTo>
                <a:lnTo>
                  <a:pt x="7312920" y="5443"/>
                </a:lnTo>
                <a:lnTo>
                  <a:pt x="6389970" y="6863443"/>
                </a:lnTo>
                <a:lnTo>
                  <a:pt x="7368" y="687296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0" name="CTA"/>
          <p:cNvSpPr/>
          <p:nvPr userDrawn="1"/>
        </p:nvSpPr>
        <p:spPr>
          <a:xfrm>
            <a:off x="633413" y="6161947"/>
            <a:ext cx="21232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400" b="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www.</a:t>
            </a:r>
            <a:r>
              <a:rPr lang="en-US" sz="1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RAK</a:t>
            </a:r>
            <a:r>
              <a:rPr lang="en-US" sz="14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wireless.com</a:t>
            </a:r>
            <a:endParaRPr lang="en-US" sz="14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l"/>
            <a:r>
              <a:rPr lang="en-US" sz="14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+86 (755) 8610 8311</a:t>
            </a:r>
            <a:endParaRPr lang="en-US" sz="14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4803077" y="6423557"/>
            <a:ext cx="716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chemeClr val="bg1">
                    <a:lumMod val="6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© Copyright Shenzhen </a:t>
            </a:r>
            <a:r>
              <a:rPr lang="en-US" sz="1100" b="1" i="0" dirty="0">
                <a:solidFill>
                  <a:schemeClr val="bg1">
                    <a:lumMod val="6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RAK</a:t>
            </a:r>
            <a:r>
              <a:rPr lang="en-US" sz="1100" b="0" i="0" dirty="0">
                <a:solidFill>
                  <a:schemeClr val="bg1">
                    <a:lumMod val="6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wireless Technology Co., Ltd. All rights reserved.</a:t>
            </a:r>
            <a:endParaRPr lang="en-PH" sz="1100" dirty="0">
              <a:solidFill>
                <a:schemeClr val="bg1">
                  <a:lumMod val="6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5" name="Picture 10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015"/>
          <a:stretch>
            <a:fillRect/>
          </a:stretch>
        </p:blipFill>
        <p:spPr>
          <a:xfrm>
            <a:off x="717841" y="339949"/>
            <a:ext cx="1527365" cy="520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-18660" y="0"/>
            <a:ext cx="12209172" cy="6858000"/>
            <a:chOff x="-18660" y="0"/>
            <a:chExt cx="12209172" cy="6858000"/>
          </a:xfrm>
        </p:grpSpPr>
        <p:pic>
          <p:nvPicPr>
            <p:cNvPr id="7" name="BG_Blue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486" y="0"/>
              <a:ext cx="12189026" cy="6858000"/>
            </a:xfrm>
            <a:prstGeom prst="rect">
              <a:avLst/>
            </a:prstGeom>
          </p:spPr>
        </p:pic>
        <p:sp>
          <p:nvSpPr>
            <p:cNvPr id="8" name="Gradient"/>
            <p:cNvSpPr/>
            <p:nvPr userDrawn="1"/>
          </p:nvSpPr>
          <p:spPr>
            <a:xfrm flipH="1">
              <a:off x="-1866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4482">
                    <a:alpha val="80000"/>
                  </a:srgbClr>
                </a:gs>
                <a:gs pos="48000">
                  <a:srgbClr val="006AC6">
                    <a:alpha val="70000"/>
                  </a:srgbClr>
                </a:gs>
                <a:gs pos="100000">
                  <a:srgbClr val="006AC6">
                    <a:alpha val="5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753" y="2016918"/>
            <a:ext cx="3879850" cy="211058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PH" dirty="0"/>
          </a:p>
        </p:txBody>
      </p:sp>
      <p:sp>
        <p:nvSpPr>
          <p:cNvPr id="20" name="CTA"/>
          <p:cNvSpPr/>
          <p:nvPr userDrawn="1"/>
        </p:nvSpPr>
        <p:spPr>
          <a:xfrm>
            <a:off x="633413" y="6161947"/>
            <a:ext cx="21232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400" b="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www.</a:t>
            </a:r>
            <a:r>
              <a:rPr lang="en-US" sz="1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RAK</a:t>
            </a:r>
            <a:r>
              <a:rPr lang="en-US" sz="14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wireless.com</a:t>
            </a:r>
            <a:endParaRPr lang="en-US" sz="14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l"/>
            <a:r>
              <a:rPr lang="en-US" sz="14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+86 (755) 8610 8311</a:t>
            </a:r>
            <a:endParaRPr lang="en-US" sz="14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5" name="Picture 10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015"/>
          <a:stretch>
            <a:fillRect/>
          </a:stretch>
        </p:blipFill>
        <p:spPr>
          <a:xfrm>
            <a:off x="717841" y="339949"/>
            <a:ext cx="1527365" cy="520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7" name="BG_Blue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486" y="0"/>
              <a:ext cx="12189026" cy="6858000"/>
            </a:xfrm>
            <a:prstGeom prst="rect">
              <a:avLst/>
            </a:prstGeom>
          </p:spPr>
        </p:pic>
        <p:sp>
          <p:nvSpPr>
            <p:cNvPr id="8" name="Gradient"/>
            <p:cNvSpPr/>
            <p:nvPr userDrawn="1"/>
          </p:nvSpPr>
          <p:spPr>
            <a:xfrm flipH="1"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4482">
                    <a:alpha val="80000"/>
                  </a:srgbClr>
                </a:gs>
                <a:gs pos="48000">
                  <a:srgbClr val="006AC6">
                    <a:alpha val="70000"/>
                  </a:srgbClr>
                </a:gs>
                <a:gs pos="100000">
                  <a:srgbClr val="006AC6">
                    <a:alpha val="5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</p:grp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524000" y="1462087"/>
            <a:ext cx="9144000" cy="2047875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PH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524000" y="3800474"/>
            <a:ext cx="9144000" cy="6858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PH" dirty="0"/>
          </a:p>
        </p:txBody>
      </p:sp>
      <p:pic>
        <p:nvPicPr>
          <p:cNvPr id="16" name="Picture 10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015"/>
          <a:stretch>
            <a:fillRect/>
          </a:stretch>
        </p:blipFill>
        <p:spPr>
          <a:xfrm>
            <a:off x="717841" y="339949"/>
            <a:ext cx="1527365" cy="520268"/>
          </a:xfrm>
          <a:prstGeom prst="rect">
            <a:avLst/>
          </a:prstGeom>
        </p:spPr>
      </p:pic>
      <p:sp>
        <p:nvSpPr>
          <p:cNvPr id="17" name="TextBox 12"/>
          <p:cNvSpPr txBox="1"/>
          <p:nvPr userDrawn="1"/>
        </p:nvSpPr>
        <p:spPr>
          <a:xfrm>
            <a:off x="4803077" y="6423557"/>
            <a:ext cx="716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chemeClr val="bg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© Copyright Shenzhen </a:t>
            </a:r>
            <a:r>
              <a:rPr lang="en-US" sz="1100" b="1" i="0" dirty="0">
                <a:solidFill>
                  <a:schemeClr val="bg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RAK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wireless Technology Co., Ltd. All rights reserved.</a:t>
            </a:r>
            <a:endParaRPr lang="en-PH" sz="11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3504" y="-8862"/>
            <a:ext cx="12215504" cy="6882433"/>
          </a:xfrm>
          <a:prstGeom prst="rect">
            <a:avLst/>
          </a:prstGeom>
        </p:spPr>
      </p:pic>
      <p:sp>
        <p:nvSpPr>
          <p:cNvPr id="5" name="TextBox 12"/>
          <p:cNvSpPr txBox="1"/>
          <p:nvPr userDrawn="1"/>
        </p:nvSpPr>
        <p:spPr>
          <a:xfrm>
            <a:off x="4803077" y="6423557"/>
            <a:ext cx="716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chemeClr val="bg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© Copyright Shenzhen </a:t>
            </a:r>
            <a:r>
              <a:rPr lang="en-US" sz="1100" b="1" i="0" dirty="0">
                <a:solidFill>
                  <a:schemeClr val="bg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RAK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wireless Technology Co., Ltd. All rights reserved.</a:t>
            </a:r>
            <a:endParaRPr lang="en-PH" sz="11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10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097"/>
          <a:stretch>
            <a:fillRect/>
          </a:stretch>
        </p:blipFill>
        <p:spPr>
          <a:xfrm>
            <a:off x="300338" y="339949"/>
            <a:ext cx="6955656" cy="520268"/>
          </a:xfrm>
          <a:prstGeom prst="rect">
            <a:avLst/>
          </a:prstGeom>
        </p:spPr>
      </p:pic>
      <p:pic>
        <p:nvPicPr>
          <p:cNvPr id="8" name="Picture 10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84" r="17338"/>
          <a:stretch>
            <a:fillRect/>
          </a:stretch>
        </p:blipFill>
        <p:spPr>
          <a:xfrm>
            <a:off x="7255994" y="340816"/>
            <a:ext cx="4584072" cy="520268"/>
          </a:xfrm>
          <a:prstGeom prst="rect">
            <a:avLst/>
          </a:prstGeom>
        </p:spPr>
      </p:pic>
      <p:sp>
        <p:nvSpPr>
          <p:cNvPr id="9" name="CTA"/>
          <p:cNvSpPr/>
          <p:nvPr userDrawn="1"/>
        </p:nvSpPr>
        <p:spPr>
          <a:xfrm>
            <a:off x="10297223" y="469278"/>
            <a:ext cx="176834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100" b="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www.</a:t>
            </a:r>
            <a:r>
              <a:rPr lang="en-US" sz="11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RAK</a:t>
            </a:r>
            <a:r>
              <a:rPr lang="en-US" sz="11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wireless.com</a:t>
            </a:r>
            <a:endParaRPr lang="en-US" sz="11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文本框 7"/>
          <p:cNvSpPr txBox="1"/>
          <p:nvPr userDrawn="1"/>
        </p:nvSpPr>
        <p:spPr>
          <a:xfrm>
            <a:off x="300338" y="6408168"/>
            <a:ext cx="1260108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fld id="{337EBD02-E443-443E-8AD8-EFF06F1883FB}" type="slidenum">
              <a:rPr lang="en-US" altLang="zh-CN" sz="1200" b="0" i="0" u="none" strike="noStrike" kern="1200" baseline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lang="zh-CN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6742727"/>
            <a:ext cx="12192000" cy="115273"/>
          </a:xfrm>
          <a:prstGeom prst="rect">
            <a:avLst/>
          </a:prstGeom>
          <a:solidFill>
            <a:srgbClr val="006AC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7" name="文本框 7"/>
          <p:cNvSpPr txBox="1"/>
          <p:nvPr userDrawn="1"/>
        </p:nvSpPr>
        <p:spPr>
          <a:xfrm>
            <a:off x="300338" y="6408168"/>
            <a:ext cx="1260108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fld id="{337EBD02-E443-443E-8AD8-EFF06F1883FB}" type="slidenum">
              <a:rPr lang="en-US" altLang="zh-CN" sz="1200" b="0" i="0" u="none" strike="noStrike" kern="1200" baseline="0" smtClean="0">
                <a:solidFill>
                  <a:schemeClr val="bg1">
                    <a:lumMod val="50000"/>
                  </a:schemeClr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</a:fld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24"/>
          <a:stretch>
            <a:fillRect/>
          </a:stretch>
        </p:blipFill>
        <p:spPr>
          <a:xfrm>
            <a:off x="300338" y="345205"/>
            <a:ext cx="8559705" cy="520268"/>
          </a:xfrm>
          <a:prstGeom prst="rect">
            <a:avLst/>
          </a:prstGeom>
        </p:spPr>
      </p:pic>
      <p:pic>
        <p:nvPicPr>
          <p:cNvPr id="13" name="Picture 1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21" r="13055"/>
          <a:stretch>
            <a:fillRect/>
          </a:stretch>
        </p:blipFill>
        <p:spPr>
          <a:xfrm>
            <a:off x="8860043" y="345205"/>
            <a:ext cx="2980023" cy="520268"/>
          </a:xfrm>
          <a:prstGeom prst="rect">
            <a:avLst/>
          </a:prstGeom>
        </p:spPr>
      </p:pic>
      <p:sp>
        <p:nvSpPr>
          <p:cNvPr id="14" name="CTA"/>
          <p:cNvSpPr/>
          <p:nvPr userDrawn="1"/>
        </p:nvSpPr>
        <p:spPr>
          <a:xfrm>
            <a:off x="10297223" y="469278"/>
            <a:ext cx="176834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100" b="0" dirty="0">
                <a:solidFill>
                  <a:srgbClr val="0072B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www.</a:t>
            </a:r>
            <a:r>
              <a:rPr lang="en-US" sz="1100" b="1" dirty="0">
                <a:solidFill>
                  <a:srgbClr val="0072B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RAK</a:t>
            </a:r>
            <a:r>
              <a:rPr lang="en-US" sz="1100" dirty="0">
                <a:solidFill>
                  <a:srgbClr val="0072B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wireless.com</a:t>
            </a:r>
            <a:endParaRPr lang="en-US" sz="1100" dirty="0">
              <a:solidFill>
                <a:srgbClr val="0072BC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2"/>
          <p:cNvSpPr txBox="1"/>
          <p:nvPr userDrawn="1"/>
        </p:nvSpPr>
        <p:spPr>
          <a:xfrm>
            <a:off x="4803077" y="6423557"/>
            <a:ext cx="716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chemeClr val="bg1">
                    <a:lumMod val="6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© Copyright Shenzhen </a:t>
            </a:r>
            <a:r>
              <a:rPr lang="en-US" sz="1100" b="1" i="0" dirty="0">
                <a:solidFill>
                  <a:schemeClr val="bg1">
                    <a:lumMod val="6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RAK</a:t>
            </a:r>
            <a:r>
              <a:rPr lang="en-US" sz="1100" b="0" i="0" dirty="0">
                <a:solidFill>
                  <a:schemeClr val="bg1">
                    <a:lumMod val="6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wireless Technology Co., Ltd. All rights reserved.</a:t>
            </a:r>
            <a:endParaRPr lang="en-PH" sz="1100" dirty="0">
              <a:solidFill>
                <a:schemeClr val="bg1">
                  <a:lumMod val="6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976418" y="359223"/>
            <a:ext cx="8158860" cy="33145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lu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3504" y="-8862"/>
            <a:ext cx="12215504" cy="688243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614753" y="2016918"/>
            <a:ext cx="3879850" cy="211058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PH" dirty="0"/>
          </a:p>
        </p:txBody>
      </p:sp>
      <p:sp>
        <p:nvSpPr>
          <p:cNvPr id="19" name="CTA"/>
          <p:cNvSpPr/>
          <p:nvPr userDrawn="1"/>
        </p:nvSpPr>
        <p:spPr>
          <a:xfrm>
            <a:off x="633413" y="6161947"/>
            <a:ext cx="21232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400" b="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www.</a:t>
            </a:r>
            <a:r>
              <a:rPr lang="en-US" sz="1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RAK</a:t>
            </a:r>
            <a:r>
              <a:rPr lang="en-US" sz="14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wireless.com</a:t>
            </a:r>
            <a:endParaRPr lang="en-US" sz="14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l"/>
            <a:r>
              <a:rPr lang="en-US" sz="14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+86 (755) 8610 8311</a:t>
            </a:r>
            <a:endParaRPr lang="en-US" sz="14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0" name="Picture 10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015"/>
          <a:stretch>
            <a:fillRect/>
          </a:stretch>
        </p:blipFill>
        <p:spPr>
          <a:xfrm>
            <a:off x="717841" y="339949"/>
            <a:ext cx="1527365" cy="520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lac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PH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P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F9AF56-A66A-4F51-8D92-B389C4BA9C2B}" type="datetimeFigureOut">
              <a:rPr lang="en-PH" smtClean="0"/>
            </a:fld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P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BCC1196-7061-458C-A104-8ECD3A9861C9}" type="slidenum">
              <a:rPr lang="en-PH" smtClean="0"/>
            </a:fld>
            <a:endParaRPr lang="en-PH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2.jpe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 txBox="1"/>
          <p:nvPr/>
        </p:nvSpPr>
        <p:spPr>
          <a:xfrm>
            <a:off x="614680" y="3429000"/>
            <a:ext cx="3924935" cy="1018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cs"/>
              </a:defRPr>
            </a:lvl1pPr>
          </a:lstStyle>
          <a:p>
            <a:pPr algn="ctr"/>
            <a:r>
              <a:rPr lang="en-US" altLang="zh-CN" sz="2650" b="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Arial" panose="020B0604020202020204" pitchFamily="34" charset="0"/>
              </a:rPr>
              <a:t>IoT Made Easy</a:t>
            </a:r>
            <a:endParaRPr lang="en-US" sz="2650" b="0" dirty="0">
              <a:latin typeface="思源黑体 CN Regular" panose="020B0500000000000000" pitchFamily="34" charset="-122"/>
              <a:ea typeface="思源黑体 CN Regular" panose="020B05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3" name="Title 3"/>
          <p:cNvSpPr txBox="1"/>
          <p:nvPr/>
        </p:nvSpPr>
        <p:spPr>
          <a:xfrm>
            <a:off x="614753" y="2016918"/>
            <a:ext cx="3879850" cy="2110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cs"/>
              </a:defRPr>
            </a:lvl1pPr>
          </a:lstStyle>
          <a:p>
            <a:pPr algn="ctr"/>
            <a:r>
              <a:rPr lang="en-US" altLang="zh-CN" sz="6600" dirty="0">
                <a:latin typeface="Arial" panose="020B0604020202020204" pitchFamily="34" charset="0"/>
                <a:cs typeface="Arial" panose="020B0604020202020204" pitchFamily="34" charset="0"/>
              </a:rPr>
              <a:t>RAK</a:t>
            </a:r>
            <a:endParaRPr lang="en-US" altLang="zh-CN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 descr="图片包含 物体, 室内, 桌子, 游戏机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62"/>
          <a:stretch>
            <a:fillRect/>
          </a:stretch>
        </p:blipFill>
        <p:spPr>
          <a:xfrm>
            <a:off x="2664037" y="0"/>
            <a:ext cx="9527964" cy="61505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RAKSensorHub+ProbeIO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965" y="4563745"/>
            <a:ext cx="2012315" cy="1983740"/>
          </a:xfrm>
          <a:prstGeom prst="rect">
            <a:avLst/>
          </a:prstGeom>
        </p:spPr>
      </p:pic>
      <p:pic>
        <p:nvPicPr>
          <p:cNvPr id="4" name="Picture 3" descr="RAKSensorHub+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4390" y="1424305"/>
            <a:ext cx="1969770" cy="2040890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671513" y="3674268"/>
            <a:ext cx="3879850" cy="4119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600" b="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68035" y="2060575"/>
            <a:ext cx="5897245" cy="36398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altLang="zh-CN" sz="2800" dirty="0">
                <a:latin typeface="Arial" panose="020B0604020202020204" pitchFamily="34" charset="0"/>
                <a:ea typeface="思源黑体 CN Bold" panose="020B0800000000000000" pitchFamily="34" charset="-122"/>
                <a:cs typeface="Arial" panose="020B0604020202020204" pitchFamily="34" charset="0"/>
              </a:rPr>
              <a:t>What is it</a:t>
            </a:r>
            <a:r>
              <a:rPr lang="zh-CN" altLang="en-US" sz="2800" dirty="0">
                <a:latin typeface="Arial" panose="020B0604020202020204" pitchFamily="34" charset="0"/>
                <a:ea typeface="思源黑体 CN Bold" panose="020B0800000000000000" pitchFamily="34" charset="-122"/>
                <a:cs typeface="Arial" panose="020B0604020202020204" pitchFamily="34" charset="0"/>
              </a:rPr>
              <a:t>？</a:t>
            </a:r>
            <a:endParaRPr lang="zh-CN" altLang="en-US" sz="2800" dirty="0">
              <a:latin typeface="Arial" panose="020B0604020202020204" pitchFamily="34" charset="0"/>
              <a:ea typeface="思源黑体 CN Bold" panose="020B0800000000000000" pitchFamily="34" charset="-122"/>
              <a:cs typeface="Arial" panose="020B0604020202020204" pitchFamily="34" charset="0"/>
            </a:endParaRP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altLang="zh-CN" sz="2800" dirty="0">
                <a:latin typeface="Arial" panose="020B0604020202020204" pitchFamily="34" charset="0"/>
                <a:ea typeface="思源黑体 CN Bold" panose="020B0800000000000000" pitchFamily="34" charset="-122"/>
                <a:cs typeface="Arial" panose="020B0604020202020204" pitchFamily="34" charset="0"/>
              </a:rPr>
              <a:t>What have we done</a:t>
            </a:r>
            <a:r>
              <a:rPr lang="zh-CN" altLang="en-US" sz="2800" dirty="0">
                <a:latin typeface="Arial" panose="020B0604020202020204" pitchFamily="34" charset="0"/>
                <a:ea typeface="思源黑体 CN Bold" panose="020B0800000000000000" pitchFamily="34" charset="-122"/>
                <a:cs typeface="Arial" panose="020B0604020202020204" pitchFamily="34" charset="0"/>
              </a:rPr>
              <a:t>？</a:t>
            </a:r>
            <a:endParaRPr lang="en-US" altLang="zh-CN" sz="2800" dirty="0">
              <a:latin typeface="Arial" panose="020B0604020202020204" pitchFamily="34" charset="0"/>
              <a:ea typeface="思源黑体 CN Bold" panose="020B0800000000000000" pitchFamily="34" charset="-122"/>
              <a:cs typeface="Arial" panose="020B0604020202020204" pitchFamily="34" charset="0"/>
            </a:endParaRP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altLang="zh-CN" sz="2800" dirty="0">
                <a:latin typeface="Arial" panose="020B0604020202020204" pitchFamily="34" charset="0"/>
                <a:ea typeface="思源黑体 CN Bold" panose="020B0800000000000000" pitchFamily="34" charset="-122"/>
                <a:cs typeface="Arial" panose="020B0604020202020204" pitchFamily="34" charset="0"/>
              </a:rPr>
              <a:t>What do we support now</a:t>
            </a:r>
            <a:r>
              <a:rPr lang="zh-CN" altLang="en-US" sz="2800" dirty="0">
                <a:latin typeface="Arial" panose="020B0604020202020204" pitchFamily="34" charset="0"/>
                <a:ea typeface="思源黑体 CN Bold" panose="020B0800000000000000" pitchFamily="34" charset="-122"/>
                <a:cs typeface="Arial" panose="020B0604020202020204" pitchFamily="34" charset="0"/>
              </a:rPr>
              <a:t>？</a:t>
            </a:r>
            <a:endParaRPr lang="zh-CN" altLang="en-US" sz="2800" dirty="0">
              <a:latin typeface="Arial" panose="020B0604020202020204" pitchFamily="34" charset="0"/>
              <a:ea typeface="思源黑体 CN Bold" panose="020B0800000000000000" pitchFamily="34" charset="-122"/>
              <a:cs typeface="Arial" panose="020B0604020202020204" pitchFamily="34" charset="0"/>
            </a:endParaRP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altLang="zh-CN" sz="2800" dirty="0">
                <a:latin typeface="Arial" panose="020B0604020202020204" pitchFamily="34" charset="0"/>
                <a:ea typeface="思源黑体 CN Bold" panose="020B0800000000000000" pitchFamily="34" charset="-122"/>
                <a:cs typeface="Arial" panose="020B0604020202020204" pitchFamily="34" charset="0"/>
                <a:sym typeface="+mn-ea"/>
              </a:rPr>
              <a:t>What does the data look like</a:t>
            </a:r>
            <a:r>
              <a:rPr lang="zh-CN" altLang="en-US" sz="2800" dirty="0">
                <a:latin typeface="Arial" panose="020B0604020202020204" pitchFamily="34" charset="0"/>
                <a:ea typeface="思源黑体 CN Bold" panose="020B0800000000000000" pitchFamily="34" charset="-122"/>
                <a:cs typeface="Arial" panose="020B0604020202020204" pitchFamily="34" charset="0"/>
              </a:rPr>
              <a:t>？</a:t>
            </a:r>
            <a:endParaRPr lang="zh-CN" altLang="en-US" sz="2800" dirty="0">
              <a:latin typeface="Arial" panose="020B0604020202020204" pitchFamily="34" charset="0"/>
              <a:ea typeface="思源黑体 CN Bold" panose="020B0800000000000000" pitchFamily="34" charset="-122"/>
              <a:cs typeface="Arial" panose="020B0604020202020204" pitchFamily="34" charset="0"/>
            </a:endParaRP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altLang="zh-CN" sz="2800" dirty="0">
                <a:latin typeface="Arial" panose="020B0604020202020204" pitchFamily="34" charset="0"/>
                <a:ea typeface="思源黑体 CN Bold" panose="020B0800000000000000" pitchFamily="34" charset="-122"/>
                <a:cs typeface="Arial" panose="020B0604020202020204" pitchFamily="34" charset="0"/>
                <a:sym typeface="+mn-ea"/>
              </a:rPr>
              <a:t>What is the future</a:t>
            </a:r>
            <a:r>
              <a:rPr lang="zh-CN" altLang="en-US" sz="2800" dirty="0">
                <a:latin typeface="Arial" panose="020B0604020202020204" pitchFamily="34" charset="0"/>
                <a:ea typeface="思源黑体 CN Bold" panose="020B0800000000000000" pitchFamily="34" charset="-122"/>
                <a:cs typeface="Arial" panose="020B0604020202020204" pitchFamily="34" charset="0"/>
              </a:rPr>
              <a:t>？</a:t>
            </a:r>
            <a:endParaRPr lang="zh-CN" altLang="en-US" sz="2800" dirty="0">
              <a:latin typeface="Arial" panose="020B0604020202020204" pitchFamily="34" charset="0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3" name="标题 2"/>
          <p:cNvSpPr/>
          <p:nvPr>
            <p:ph type="title"/>
          </p:nvPr>
        </p:nvSpPr>
        <p:spPr>
          <a:xfrm>
            <a:off x="495300" y="2309495"/>
            <a:ext cx="4450080" cy="2765425"/>
          </a:xfrm>
        </p:spPr>
        <p:txBody>
          <a:bodyPr>
            <a:normAutofit fontScale="90000"/>
          </a:bodyPr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RAK</a:t>
            </a:r>
            <a:r>
              <a:rPr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SensorHub + Meshtastic</a:t>
            </a:r>
            <a:br>
              <a:rPr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POC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Demo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b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Plug &amp; Play · Wireless Sensor Aggregation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图片 23" descr="play_store_icon"/>
          <p:cNvPicPr>
            <a:picLocks noChangeAspect="1"/>
          </p:cNvPicPr>
          <p:nvPr/>
        </p:nvPicPr>
        <p:blipFill>
          <a:blip r:embed="rId3"/>
          <a:srcRect t="18646" b="22878"/>
          <a:stretch>
            <a:fillRect/>
          </a:stretch>
        </p:blipFill>
        <p:spPr>
          <a:xfrm>
            <a:off x="9941560" y="685800"/>
            <a:ext cx="1162050" cy="679450"/>
          </a:xfrm>
          <a:prstGeom prst="rect">
            <a:avLst/>
          </a:prstGeom>
        </p:spPr>
      </p:pic>
      <p:pic>
        <p:nvPicPr>
          <p:cNvPr id="5" name="图片 4" descr="RAK-micro-rg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470" y="627380"/>
            <a:ext cx="2927985" cy="796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976120" y="359410"/>
            <a:ext cx="8630920" cy="331470"/>
          </a:xfrm>
        </p:spPr>
        <p:txBody>
          <a:bodyPr/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What is it? – A wireless translator that makes every sensor “speak”</a:t>
            </a:r>
            <a:endParaRPr lang="en-US" altLang="zh-CN" b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16965" y="1455420"/>
            <a:ext cx="6651625" cy="39027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zh-CN"/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b="1"/>
              <a:t>RAK2560 SensorHub is like a “universal sensor translator”.</a:t>
            </a:r>
            <a:endParaRPr lang="en-US" altLang="zh-CN" b="1"/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Soil sensors, weather stations, water quality testers… they all speak different “dialects” (RS485, SDI-12, 4-20mA).</a:t>
            </a:r>
            <a:endParaRPr lang="en-US" altLang="zh-CN"/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SensorHub translates all these dialects into standard data, then sends it to your phone or computer via LoRa radio (like a walkie-talkie).</a:t>
            </a:r>
            <a:endParaRPr lang="en-US" altLang="zh-CN"/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No need for cables or Wi-Fi. You can see all the data from your field – remotely.</a:t>
            </a:r>
            <a:endParaRPr lang="en-US" altLang="zh-CN"/>
          </a:p>
        </p:txBody>
      </p:sp>
      <p:pic>
        <p:nvPicPr>
          <p:cNvPr id="5" name="Picture 3" descr="RAKSensorHub+ProbeI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1530" y="2362835"/>
            <a:ext cx="2825750" cy="2712085"/>
          </a:xfrm>
          <a:prstGeom prst="rect">
            <a:avLst/>
          </a:prstGeom>
        </p:spPr>
      </p:pic>
      <p:pic>
        <p:nvPicPr>
          <p:cNvPr id="6" name="图片 5" descr="RAK-micro-rg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1530" y="1118870"/>
            <a:ext cx="2667000" cy="725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Mesh_Logo_Playsto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9465" y="2205355"/>
            <a:ext cx="4520565" cy="2489200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What have we done? – Plug in a sensor, see data on your phone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6620" y="1472565"/>
            <a:ext cx="6186170" cy="39128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noAutofit/>
          </a:bodyPr>
          <a:p>
            <a:endParaRPr lang="zh-CN" altLang="en-US"/>
          </a:p>
          <a:p>
            <a:r>
              <a:rPr lang="en-US" altLang="zh-CN" sz="1600" b="1"/>
              <a:t>We have enabled plug-and-play data reading on SensorHub: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Plug in any supported sensor (temperature, humidity, soil, wind, CO</a:t>
            </a:r>
            <a:r>
              <a:rPr lang="en-US" altLang="en-US" sz="1600"/>
              <a:t>₂</a:t>
            </a:r>
            <a:r>
              <a:rPr lang="en-US" altLang="zh-CN" sz="1600"/>
              <a:t>…), it is automatically recognized – no manual config needed.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Data is displayed in real-time on the Meshtastic App and can be stored in Grafana dashboards for historical trends.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We have covered 6 categories, 20+ parameters (temperature, humidity, pressure, wind speed, wind direction, solar radiation, soil moisture, EC, pH, salinity, CO</a:t>
            </a:r>
            <a:r>
              <a:rPr lang="en-US" altLang="en-US" sz="1600"/>
              <a:t>₂</a:t>
            </a:r>
            <a:r>
              <a:rPr lang="en-US" altLang="zh-CN" sz="1600"/>
              <a:t>, voltage, current…).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 b="1"/>
              <a:t>One sentence: Plug in the sensor, see the data on your phone.</a:t>
            </a:r>
            <a:endParaRPr lang="en-US" altLang="zh-CN" sz="1600" b="1"/>
          </a:p>
          <a:p>
            <a:pPr indent="0">
              <a:buFont typeface="Arial" panose="020B0604020202020204" pitchFamily="34" charset="0"/>
              <a:buNone/>
            </a:pPr>
            <a:endParaRPr lang="en-US" altLang="zh-CN" sz="1600" b="1"/>
          </a:p>
        </p:txBody>
      </p:sp>
      <p:sp>
        <p:nvSpPr>
          <p:cNvPr id="7" name="矩形 6"/>
          <p:cNvSpPr/>
          <p:nvPr/>
        </p:nvSpPr>
        <p:spPr>
          <a:xfrm>
            <a:off x="8126095" y="1548765"/>
            <a:ext cx="2868295" cy="4254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firmware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8126095" y="2183765"/>
            <a:ext cx="2868295" cy="4254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src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8126095" y="2779395"/>
            <a:ext cx="2868295" cy="4254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modules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8126095" y="3413760"/>
            <a:ext cx="2868295" cy="4254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Telemetry</a:t>
            </a:r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8126095" y="4008755"/>
            <a:ext cx="2868295" cy="4254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Sensor</a:t>
            </a:r>
            <a:endParaRPr lang="en-US" altLang="zh-CN"/>
          </a:p>
        </p:txBody>
      </p:sp>
      <p:sp>
        <p:nvSpPr>
          <p:cNvPr id="15" name="下箭头 14"/>
          <p:cNvSpPr/>
          <p:nvPr/>
        </p:nvSpPr>
        <p:spPr>
          <a:xfrm>
            <a:off x="9482455" y="1999615"/>
            <a:ext cx="75565" cy="158750"/>
          </a:xfrm>
          <a:prstGeom prst="downArrow">
            <a:avLst/>
          </a:prstGeom>
          <a:solidFill>
            <a:srgbClr val="016A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9482455" y="2622550"/>
            <a:ext cx="75565" cy="158750"/>
          </a:xfrm>
          <a:prstGeom prst="downArrow">
            <a:avLst/>
          </a:prstGeom>
          <a:solidFill>
            <a:srgbClr val="016A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9482455" y="3229610"/>
            <a:ext cx="75565" cy="158750"/>
          </a:xfrm>
          <a:prstGeom prst="downArrow">
            <a:avLst/>
          </a:prstGeom>
          <a:solidFill>
            <a:srgbClr val="016A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9460865" y="3853180"/>
            <a:ext cx="75565" cy="158750"/>
          </a:xfrm>
          <a:prstGeom prst="downArrow">
            <a:avLst/>
          </a:prstGeom>
          <a:solidFill>
            <a:srgbClr val="016A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126095" y="4878070"/>
            <a:ext cx="2868295" cy="4254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RAKSensorHub.cpp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8126095" y="5450205"/>
            <a:ext cx="2868295" cy="4254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RAKSensorHub.h</a:t>
            </a:r>
            <a:endParaRPr lang="en-US" altLang="zh-CN"/>
          </a:p>
        </p:txBody>
      </p:sp>
      <p:sp>
        <p:nvSpPr>
          <p:cNvPr id="22" name="下箭头 21"/>
          <p:cNvSpPr/>
          <p:nvPr/>
        </p:nvSpPr>
        <p:spPr>
          <a:xfrm>
            <a:off x="9419590" y="4476750"/>
            <a:ext cx="158115" cy="375920"/>
          </a:xfrm>
          <a:prstGeom prst="downArrow">
            <a:avLst/>
          </a:prstGeom>
          <a:solidFill>
            <a:srgbClr val="016A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327265" y="1104265"/>
            <a:ext cx="4074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Optional code location diagram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图片 26" descr="play_store_icon"/>
          <p:cNvPicPr>
            <a:picLocks noChangeAspect="1"/>
          </p:cNvPicPr>
          <p:nvPr/>
        </p:nvPicPr>
        <p:blipFill>
          <a:blip r:embed="rId2"/>
          <a:srcRect t="18646" b="22878"/>
          <a:stretch>
            <a:fillRect/>
          </a:stretch>
        </p:blipFill>
        <p:spPr>
          <a:xfrm>
            <a:off x="10744835" y="1063625"/>
            <a:ext cx="758825" cy="443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3" descr="RAKSensorHub+Prob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0175" y="1038860"/>
            <a:ext cx="2111375" cy="2189480"/>
          </a:xfrm>
          <a:prstGeom prst="rect">
            <a:avLst/>
          </a:prstGeom>
        </p:spPr>
      </p:pic>
      <p:pic>
        <p:nvPicPr>
          <p:cNvPr id="27" name="图片 26" descr="RAKSensorHub+ProbeIO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965" y="3677285"/>
            <a:ext cx="2310130" cy="2397760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What do we support now? – 6 sensor categories, plug &amp; play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741045" y="1364615"/>
          <a:ext cx="4330700" cy="1653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925"/>
                <a:gridCol w="2644775"/>
              </a:tblGrid>
              <a:tr h="41338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Arial" panose="020B0604020202020204" pitchFamily="34" charset="0"/>
                        </a:rPr>
                        <a:t>WisBlock module</a:t>
                      </a:r>
                      <a:endParaRPr lang="en-US" altLang="zh-CN" sz="1400" b="1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Arial" panose="020B0604020202020204" pitchFamily="34" charset="0"/>
                        </a:rPr>
                        <a:t>Measurement Parameters</a:t>
                      </a:r>
                      <a:endParaRPr lang="en-US" altLang="zh-CN" sz="1400" b="1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1338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RAK1901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Temperature + Humidity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338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RAK1902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Temperature + Pressure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1338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RAK1904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3-axis acceleration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41045" y="903605"/>
            <a:ext cx="4780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Probe + Sensor(</a:t>
            </a:r>
            <a:r>
              <a:rPr lang="en-US" altLang="zh-CN" sz="140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WisBlock direct connect)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1045" y="3110865"/>
            <a:ext cx="2221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Probe</a:t>
            </a:r>
            <a:r>
              <a:rPr lang="en-US" altLang="zh-CN"/>
              <a:t>IO + </a:t>
            </a:r>
            <a:r>
              <a:rPr lang="en-US" altLang="zh-CN"/>
              <a:t>Sensor</a:t>
            </a:r>
            <a:endParaRPr lang="en-US" altLang="zh-CN"/>
          </a:p>
        </p:txBody>
      </p:sp>
      <p:graphicFrame>
        <p:nvGraphicFramePr>
          <p:cNvPr id="8" name="表格 7"/>
          <p:cNvGraphicFramePr/>
          <p:nvPr>
            <p:custDataLst>
              <p:tags r:id="rId4"/>
            </p:custDataLst>
          </p:nvPr>
        </p:nvGraphicFramePr>
        <p:xfrm>
          <a:off x="741045" y="3538855"/>
          <a:ext cx="545465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490980"/>
                <a:gridCol w="2287270"/>
              </a:tblGrid>
              <a:tr h="41338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Arial" panose="020B0604020202020204" pitchFamily="34" charset="0"/>
                        </a:rPr>
                        <a:t>built-in third-party</a:t>
                      </a:r>
                      <a:endParaRPr lang="en-US" altLang="zh-CN" sz="1400" b="1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 b="1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Arial" panose="020B0604020202020204" pitchFamily="34" charset="0"/>
                        </a:rPr>
                        <a:t>Interface Type</a:t>
                      </a:r>
                      <a:endParaRPr lang="en-US" altLang="zh-CN" sz="1400" b="1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Arial" panose="020B0604020202020204" pitchFamily="34" charset="0"/>
                          <a:sym typeface="+mn-ea"/>
                        </a:rPr>
                        <a:t>Measurement Parameters</a:t>
                      </a:r>
                      <a:endParaRPr lang="en-US" altLang="zh-CN" sz="1400" b="1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1338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RK900-09 Weather station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  <a:sym typeface="+mn-ea"/>
                        </a:rPr>
                        <a:t>RS485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wind speed/direction, T/H/P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338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RK300-03 </a:t>
                      </a:r>
                      <a:r>
                        <a:rPr lang="en-US" altLang="zh-CN" sz="14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  <a:sym typeface="+mn-ea"/>
                        </a:rPr>
                        <a:t>CO</a:t>
                      </a:r>
                      <a:r>
                        <a:rPr lang="en-US" altLang="zh-CN" sz="1400" baseline="-250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  <a:sym typeface="+mn-ea"/>
                        </a:rPr>
                        <a:t>2 </a:t>
                      </a:r>
                      <a:r>
                        <a:rPr lang="en-US" altLang="zh-CN" sz="14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  <a:sym typeface="+mn-ea"/>
                        </a:rPr>
                        <a:t> </a:t>
                      </a:r>
                      <a:endParaRPr lang="en-US" altLang="zh-CN" sz="1400" b="0" i="0" baseline="-250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  <a:sym typeface="+mn-ea"/>
                        </a:rPr>
                        <a:t>RS485</a:t>
                      </a:r>
                      <a:endParaRPr lang="en-US" altLang="zh-CN" sz="1400" b="0" i="0" baseline="-250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CO2 concentration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1338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JXBS-3001-pH 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  <a:sym typeface="+mn-ea"/>
                        </a:rPr>
                        <a:t>RS485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high/low precision pH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338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UTOP ULB16 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  <a:sym typeface="+mn-ea"/>
                        </a:rPr>
                        <a:t>4-20mA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water level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1338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RK200-03 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  <a:sym typeface="+mn-ea"/>
                        </a:rPr>
                        <a:t>SDI-12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solar radiation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>
            <p:custDataLst>
              <p:tags r:id="rId5"/>
            </p:custDataLst>
          </p:nvPr>
        </p:nvGraphicFramePr>
        <p:xfrm>
          <a:off x="8118475" y="1330960"/>
          <a:ext cx="3206115" cy="46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6115"/>
              </a:tblGrid>
              <a:tr h="40513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🌡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️ Temp</a:t>
                      </a: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-40℃ ~ 125℃ 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735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💧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   Hum</a:t>
                      </a: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0 ~ 100%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🌬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️ Press</a:t>
                      </a: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260 ~ 1260 hPa 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798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📦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   3-axis accel</a:t>
                      </a: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±16g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798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🫧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   CO₂</a:t>
                      </a: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0 ~ 5000 ppm 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💨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   Wind speed</a:t>
                      </a: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0 ~ 40 m/s 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735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🧭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   Wind direction</a:t>
                      </a: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0 ~ 360°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798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☀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️ Solar radiation</a:t>
                      </a: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0 ~ 2000 W/m²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798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⚡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   EC</a:t>
                      </a: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0 ~ 10 mS/cm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🌱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   Soil moisture</a:t>
                      </a: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0 ~ 100% 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798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🧪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   pH</a:t>
                      </a: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0 ~ 14</a:t>
                      </a: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0.01</a:t>
                      </a: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） 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798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📏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   Water level</a:t>
                      </a: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0 ~ 5 m </a:t>
                      </a:r>
                      <a:endParaRPr lang="en-US" altLang="zh-CN" sz="1400" b="0" i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62230" marR="62230" marT="28892" marB="28892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8118475" y="903605"/>
            <a:ext cx="3318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Supported parameters list</a:t>
            </a:r>
            <a:r>
              <a:rPr lang="zh-CN" altLang="en-US"/>
              <a:t>：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What does the data look like? – Mobile App + Dashboard live view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POC-Grafan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" y="1791335"/>
            <a:ext cx="7080885" cy="43478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81075" y="1018540"/>
            <a:ext cx="7038975" cy="6451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p>
            <a:pPr>
              <a:defRPr sz="1800"/>
            </a:pPr>
            <a:r>
              <a:rPr>
                <a:solidFill>
                  <a:schemeClr val="tx1"/>
                </a:solidFill>
                <a:sym typeface="+mn-ea"/>
              </a:rPr>
              <a:t>📊 Grafana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Dashboard (historical trends) </a:t>
            </a:r>
            <a:r>
              <a:rPr>
                <a:solidFill>
                  <a:schemeClr val="tx1"/>
                </a:solidFill>
                <a:sym typeface="+mn-ea"/>
              </a:rPr>
              <a:t>：</a:t>
            </a:r>
            <a:endParaRPr>
              <a:solidFill>
                <a:schemeClr val="tx1"/>
              </a:solidFill>
              <a:sym typeface="+mn-ea"/>
            </a:endParaRPr>
          </a:p>
          <a:p>
            <a:pPr>
              <a:defRPr sz="1800"/>
            </a:pPr>
            <a:r>
              <a:rPr>
                <a:solidFill>
                  <a:schemeClr val="tx1"/>
                </a:solidFill>
                <a:sym typeface="+mn-ea"/>
              </a:rPr>
              <a:t>   •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Multi-parameter time-series charts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470265" y="4425315"/>
            <a:ext cx="3178810" cy="17348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noAutofit/>
          </a:bodyPr>
          <a:p>
            <a:pPr>
              <a:defRPr sz="1800"/>
            </a:pPr>
            <a:r>
              <a:rPr>
                <a:solidFill>
                  <a:schemeClr val="tx1"/>
                </a:solidFill>
                <a:sym typeface="+mn-ea"/>
              </a:rPr>
              <a:t>📱 Meshtastic App </a:t>
            </a:r>
            <a:r>
              <a:rPr lang="en-US">
                <a:solidFill>
                  <a:schemeClr val="tx1"/>
                </a:solidFill>
                <a:sym typeface="+mn-ea"/>
              </a:rPr>
              <a:t>r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eal-time</a:t>
            </a:r>
            <a:r>
              <a:rPr>
                <a:solidFill>
                  <a:schemeClr val="tx1"/>
                </a:solidFill>
                <a:sym typeface="+mn-ea"/>
              </a:rPr>
              <a:t>：</a:t>
            </a:r>
            <a:endParaRPr>
              <a:solidFill>
                <a:schemeClr val="tx1"/>
              </a:solidFill>
              <a:sym typeface="+mn-ea"/>
            </a:endParaRPr>
          </a:p>
          <a:p>
            <a:pPr>
              <a:defRPr sz="1800"/>
            </a:pPr>
            <a:r>
              <a:rPr>
                <a:solidFill>
                  <a:schemeClr val="tx1"/>
                </a:solidFill>
                <a:sym typeface="+mn-ea"/>
              </a:rPr>
              <a:t>   •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Temperature:</a:t>
            </a:r>
            <a:r>
              <a:rPr>
                <a:solidFill>
                  <a:schemeClr val="tx1"/>
                </a:solidFill>
                <a:sym typeface="+mn-ea"/>
              </a:rPr>
              <a:t> 2</a:t>
            </a:r>
            <a:r>
              <a:rPr lang="en-US">
                <a:solidFill>
                  <a:schemeClr val="tx1"/>
                </a:solidFill>
                <a:sym typeface="+mn-ea"/>
              </a:rPr>
              <a:t>5</a:t>
            </a:r>
            <a:r>
              <a:rPr>
                <a:solidFill>
                  <a:schemeClr val="tx1"/>
                </a:solidFill>
                <a:sym typeface="+mn-ea"/>
              </a:rPr>
              <a:t>°C  </a:t>
            </a:r>
            <a:endParaRPr>
              <a:solidFill>
                <a:schemeClr val="tx1"/>
              </a:solidFill>
              <a:sym typeface="+mn-ea"/>
            </a:endParaRPr>
          </a:p>
          <a:p>
            <a:pPr>
              <a:defRPr sz="1800"/>
            </a:pPr>
            <a:r>
              <a:rPr>
                <a:solidFill>
                  <a:schemeClr val="tx1"/>
                </a:solidFill>
                <a:sym typeface="+mn-ea"/>
              </a:rPr>
              <a:t> </a:t>
            </a:r>
            <a:r>
              <a:rPr lang="en-US">
                <a:solidFill>
                  <a:schemeClr val="tx1"/>
                </a:solidFill>
                <a:sym typeface="+mn-ea"/>
              </a:rPr>
              <a:t>  </a:t>
            </a:r>
            <a:r>
              <a:rPr>
                <a:solidFill>
                  <a:schemeClr val="tx1"/>
                </a:solidFill>
                <a:sym typeface="+mn-ea"/>
              </a:rPr>
              <a:t>•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Humidity:</a:t>
            </a:r>
            <a:r>
              <a:rPr>
                <a:solidFill>
                  <a:schemeClr val="tx1"/>
                </a:solidFill>
                <a:sym typeface="+mn-ea"/>
              </a:rPr>
              <a:t> </a:t>
            </a:r>
            <a:r>
              <a:rPr lang="en-US">
                <a:solidFill>
                  <a:schemeClr val="tx1"/>
                </a:solidFill>
                <a:sym typeface="+mn-ea"/>
              </a:rPr>
              <a:t>29</a:t>
            </a:r>
            <a:r>
              <a:rPr>
                <a:solidFill>
                  <a:schemeClr val="tx1"/>
                </a:solidFill>
                <a:sym typeface="+mn-ea"/>
              </a:rPr>
              <a:t>% </a:t>
            </a:r>
            <a:endParaRPr>
              <a:solidFill>
                <a:schemeClr val="tx1"/>
              </a:solidFill>
              <a:sym typeface="+mn-ea"/>
            </a:endParaRPr>
          </a:p>
          <a:p>
            <a:pPr>
              <a:defRPr sz="1800"/>
            </a:pPr>
            <a:r>
              <a:rPr>
                <a:solidFill>
                  <a:schemeClr val="tx1"/>
                </a:solidFill>
                <a:sym typeface="+mn-ea"/>
              </a:rPr>
              <a:t> </a:t>
            </a:r>
            <a:r>
              <a:rPr lang="en-US">
                <a:solidFill>
                  <a:schemeClr val="tx1"/>
                </a:solidFill>
                <a:sym typeface="+mn-ea"/>
              </a:rPr>
              <a:t> </a:t>
            </a:r>
            <a:r>
              <a:rPr>
                <a:solidFill>
                  <a:schemeClr val="tx1"/>
                </a:solidFill>
                <a:sym typeface="+mn-ea"/>
              </a:rPr>
              <a:t> •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Pressure:</a:t>
            </a:r>
            <a:r>
              <a:rPr>
                <a:solidFill>
                  <a:schemeClr val="tx1"/>
                </a:solidFill>
                <a:sym typeface="+mn-ea"/>
              </a:rPr>
              <a:t> </a:t>
            </a:r>
            <a:r>
              <a:rPr lang="en-US">
                <a:solidFill>
                  <a:schemeClr val="tx1"/>
                </a:solidFill>
                <a:sym typeface="+mn-ea"/>
              </a:rPr>
              <a:t>952</a:t>
            </a:r>
            <a:r>
              <a:rPr>
                <a:solidFill>
                  <a:schemeClr val="tx1"/>
                </a:solidFill>
                <a:sym typeface="+mn-ea"/>
              </a:rPr>
              <a:t> hPa </a:t>
            </a:r>
            <a:endParaRPr>
              <a:solidFill>
                <a:schemeClr val="tx1"/>
              </a:solidFill>
              <a:sym typeface="+mn-ea"/>
            </a:endParaRPr>
          </a:p>
          <a:p>
            <a:pPr>
              <a:defRPr sz="1800"/>
            </a:pPr>
            <a:r>
              <a:rPr>
                <a:solidFill>
                  <a:schemeClr val="tx1"/>
                </a:solidFill>
                <a:sym typeface="+mn-ea"/>
              </a:rPr>
              <a:t>   •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Voltage:</a:t>
            </a:r>
            <a:r>
              <a:rPr>
                <a:solidFill>
                  <a:schemeClr val="tx1"/>
                </a:solidFill>
                <a:sym typeface="+mn-ea"/>
              </a:rPr>
              <a:t> 1</a:t>
            </a:r>
            <a:r>
              <a:rPr lang="en-US">
                <a:solidFill>
                  <a:schemeClr val="tx1"/>
                </a:solidFill>
                <a:sym typeface="+mn-ea"/>
              </a:rPr>
              <a:t>1.66</a:t>
            </a:r>
            <a:r>
              <a:rPr>
                <a:solidFill>
                  <a:schemeClr val="tx1"/>
                </a:solidFill>
                <a:sym typeface="+mn-ea"/>
              </a:rPr>
              <a:t>V </a:t>
            </a:r>
            <a:r>
              <a:rPr>
                <a:solidFill>
                  <a:schemeClr val="bg1"/>
                </a:solidFill>
                <a:sym typeface="+mn-ea"/>
              </a:rPr>
              <a:t> 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POC-Meshtastic-APP_en</a:t>
            </a:r>
            <a:endParaRPr lang="zh-CN" altLang="en-US"/>
          </a:p>
        </p:txBody>
      </p:sp>
      <p:pic>
        <p:nvPicPr>
          <p:cNvPr id="9" name="图片 8" descr="POC-Meshtastic-APP_en"/>
          <p:cNvPicPr>
            <a:picLocks noChangeAspect="1"/>
          </p:cNvPicPr>
          <p:nvPr/>
        </p:nvPicPr>
        <p:blipFill>
          <a:blip r:embed="rId2"/>
          <a:srcRect l="-329" t="17472" b="34120"/>
          <a:stretch>
            <a:fillRect/>
          </a:stretch>
        </p:blipFill>
        <p:spPr>
          <a:xfrm>
            <a:off x="8470265" y="1018540"/>
            <a:ext cx="3096260" cy="33197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What is the future? – You can “teach” it new sensors from your phone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08355" y="951230"/>
            <a:ext cx="10751185" cy="2622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1600" b="1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Right now</a:t>
            </a:r>
            <a:r>
              <a:rPr lang="en-US" altLang="zh-CN" sz="1600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, SensorHub can only read sensors we have pre-configured.In the future, we give it the ability to learn by itself:</a:t>
            </a:r>
            <a:endParaRPr lang="en-US" altLang="zh-CN" sz="1600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Use your phone to remotely configure any new RS485 sensor.</a:t>
            </a:r>
            <a:endParaRPr lang="en-US" altLang="zh-CN" sz="1600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For example: you buy a new water quality meter. No need to ask the factory. Just enter its communication parameters (baud rate, register address, data format) in the App - and SensorHub will understand it immediately.</a:t>
            </a:r>
            <a:endParaRPr lang="en-US" altLang="zh-CN" sz="1600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altLang="zh-CN" sz="1600" b="1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1600" b="1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Final goal</a:t>
            </a:r>
            <a:r>
              <a:rPr lang="en-US" altLang="zh-CN" sz="1600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:</a:t>
            </a:r>
            <a:endParaRPr lang="en-US" altLang="zh-CN" sz="1600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Move from “what sensors we support” to “you can use whatever sensor you want”.</a:t>
            </a:r>
            <a:endParaRPr lang="en-US" altLang="zh-CN" sz="1600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Cover 90%+ of industrial/agricultural sensors – a truly universal sensor gateway.</a:t>
            </a:r>
            <a:endParaRPr lang="en-US" altLang="zh-CN" sz="1600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8355" y="3659505"/>
            <a:ext cx="10750550" cy="36830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 roadmap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POC passed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Early Apr (Upstream)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Late Apr (Downstream)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utoShape 3"/>
          <p:cNvSpPr/>
          <p:nvPr>
            <p:custDataLst>
              <p:tags r:id="rId1"/>
            </p:custDataLst>
          </p:nvPr>
        </p:nvSpPr>
        <p:spPr>
          <a:xfrm>
            <a:off x="1031875" y="4851400"/>
            <a:ext cx="9991725" cy="1484630"/>
          </a:xfrm>
          <a:custGeom>
            <a:avLst/>
            <a:gdLst/>
            <a:ahLst/>
            <a:cxnLst/>
            <a:rect l="l" t="t" r="r" b="b"/>
            <a:pathLst>
              <a:path w="11531603" h="3767859">
                <a:moveTo>
                  <a:pt x="11525760" y="1887145"/>
                </a:moveTo>
                <a:lnTo>
                  <a:pt x="10702699" y="2620864"/>
                </a:lnTo>
                <a:cubicBezTo>
                  <a:pt x="10749646" y="2508303"/>
                  <a:pt x="10784857" y="2387769"/>
                  <a:pt x="10808330" y="2263248"/>
                </a:cubicBezTo>
                <a:lnTo>
                  <a:pt x="10811360" y="2230416"/>
                </a:lnTo>
                <a:lnTo>
                  <a:pt x="10469116" y="2220092"/>
                </a:lnTo>
                <a:cubicBezTo>
                  <a:pt x="5452191" y="2124713"/>
                  <a:pt x="318620" y="3670342"/>
                  <a:pt x="2671" y="3767037"/>
                </a:cubicBezTo>
                <a:lnTo>
                  <a:pt x="0" y="3767859"/>
                </a:lnTo>
                <a:lnTo>
                  <a:pt x="0" y="2039306"/>
                </a:lnTo>
                <a:lnTo>
                  <a:pt x="10967299" y="2039306"/>
                </a:lnTo>
                <a:lnTo>
                  <a:pt x="10967299" y="2194682"/>
                </a:lnTo>
                <a:close/>
                <a:moveTo>
                  <a:pt x="10702699" y="1142562"/>
                </a:moveTo>
                <a:lnTo>
                  <a:pt x="10702926" y="1143205"/>
                </a:lnTo>
                <a:lnTo>
                  <a:pt x="10702699" y="1143002"/>
                </a:lnTo>
                <a:close/>
                <a:moveTo>
                  <a:pt x="0" y="0"/>
                </a:moveTo>
                <a:lnTo>
                  <a:pt x="2671" y="822"/>
                </a:lnTo>
                <a:cubicBezTo>
                  <a:pt x="318620" y="97517"/>
                  <a:pt x="5452191" y="1643146"/>
                  <a:pt x="10469116" y="1547771"/>
                </a:cubicBezTo>
                <a:lnTo>
                  <a:pt x="10811769" y="1537435"/>
                </a:lnTo>
                <a:lnTo>
                  <a:pt x="10808330" y="1500178"/>
                </a:lnTo>
                <a:cubicBezTo>
                  <a:pt x="10796593" y="1437918"/>
                  <a:pt x="10781922" y="1376654"/>
                  <a:pt x="10764317" y="1316885"/>
                </a:cubicBezTo>
                <a:lnTo>
                  <a:pt x="10702926" y="1143205"/>
                </a:lnTo>
                <a:lnTo>
                  <a:pt x="10712008" y="1151301"/>
                </a:lnTo>
                <a:cubicBezTo>
                  <a:pt x="10803074" y="1232483"/>
                  <a:pt x="11531603" y="1881936"/>
                  <a:pt x="11531603" y="1881936"/>
                </a:cubicBezTo>
                <a:lnTo>
                  <a:pt x="11530220" y="1883169"/>
                </a:lnTo>
                <a:lnTo>
                  <a:pt x="10967299" y="1573176"/>
                </a:lnTo>
                <a:lnTo>
                  <a:pt x="10967299" y="1728553"/>
                </a:lnTo>
                <a:lnTo>
                  <a:pt x="0" y="1728553"/>
                </a:lnTo>
                <a:close/>
              </a:path>
            </a:pathLst>
          </a:custGeom>
          <a:gradFill>
            <a:gsLst>
              <a:gs pos="0">
                <a:srgbClr val="016AC6"/>
              </a:gs>
              <a:gs pos="100000">
                <a:srgbClr val="7461E5">
                  <a:alpha val="0"/>
                </a:srgbClr>
              </a:gs>
            </a:gsLst>
            <a:lin ang="10800000"/>
          </a:gradFill>
          <a:ln>
            <a:prstDash val="solid"/>
            <a:headEnd type="none"/>
            <a:tailEnd type="none"/>
          </a:ln>
        </p:spPr>
      </p:sp>
      <p:sp>
        <p:nvSpPr>
          <p:cNvPr id="11" name="TextBox 6"/>
          <p:cNvSpPr txBox="1"/>
          <p:nvPr>
            <p:custDataLst>
              <p:tags r:id="rId2"/>
            </p:custDataLst>
          </p:nvPr>
        </p:nvSpPr>
        <p:spPr>
          <a:xfrm>
            <a:off x="2645820" y="5449955"/>
            <a:ext cx="932596" cy="288000"/>
          </a:xfrm>
          <a:prstGeom prst="chevron">
            <a:avLst/>
          </a:prstGeom>
          <a:gradFill>
            <a:gsLst>
              <a:gs pos="0">
                <a:srgbClr val="46A6FE">
                  <a:alpha val="100000"/>
                </a:srgbClr>
              </a:gs>
              <a:gs pos="80000">
                <a:srgbClr val="7461E5">
                  <a:alpha val="100000"/>
                </a:srgbClr>
              </a:gs>
            </a:gsLst>
            <a:lin ang="0"/>
          </a:gradFill>
          <a:ln>
            <a:prstDash val="solid"/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defRPr/>
            </a:pPr>
            <a:r>
              <a:rPr lang="en-US" sz="14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lang="en-US" sz="1100"/>
          </a:p>
        </p:txBody>
      </p:sp>
      <p:sp>
        <p:nvSpPr>
          <p:cNvPr id="12" name="TextBox 6"/>
          <p:cNvSpPr txBox="1"/>
          <p:nvPr>
            <p:custDataLst>
              <p:tags r:id="rId3"/>
            </p:custDataLst>
          </p:nvPr>
        </p:nvSpPr>
        <p:spPr>
          <a:xfrm>
            <a:off x="8033160" y="5448685"/>
            <a:ext cx="932596" cy="288000"/>
          </a:xfrm>
          <a:prstGeom prst="chevron">
            <a:avLst/>
          </a:prstGeom>
          <a:gradFill>
            <a:gsLst>
              <a:gs pos="0">
                <a:srgbClr val="46A6FE">
                  <a:alpha val="100000"/>
                </a:srgbClr>
              </a:gs>
              <a:gs pos="80000">
                <a:srgbClr val="7461E5">
                  <a:alpha val="100000"/>
                </a:srgbClr>
              </a:gs>
            </a:gsLst>
            <a:lin ang="0"/>
          </a:gradFill>
          <a:ln>
            <a:prstDash val="solid"/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defRPr/>
            </a:pPr>
            <a:r>
              <a:rPr lang="en-US" sz="14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lang="en-US" sz="1100"/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808355" y="4220210"/>
            <a:ext cx="49911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Upstream version (Early April) – “</a:t>
            </a:r>
            <a:r>
              <a:rPr lang="en-US" altLang="zh-CN" sz="1600" b="1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Plug &amp; use</a:t>
            </a:r>
            <a:r>
              <a:rPr lang="en-US" altLang="zh-CN" sz="16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”</a:t>
            </a:r>
            <a:endParaRPr lang="en-US" altLang="zh-CN" sz="16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7+ built-in sensors, plug &amp; play</a:t>
            </a:r>
            <a:endParaRPr lang="en-US" altLang="zh-CN" sz="16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Data reported to phone, no configuration needed</a:t>
            </a:r>
            <a:endParaRPr lang="en-US" altLang="zh-CN" sz="16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6411595" y="4158615"/>
            <a:ext cx="514794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Downstream version (Late April) – “</a:t>
            </a:r>
            <a:r>
              <a:rPr lang="en-US" altLang="zh-CN" sz="1600" b="1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Configure anything</a:t>
            </a:r>
            <a:r>
              <a:rPr lang="en-US" altLang="zh-CN" sz="16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”</a:t>
            </a:r>
            <a:endParaRPr lang="en-US" altLang="zh-CN" sz="16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Remotely configure new sensors from your phone</a:t>
            </a:r>
            <a:endParaRPr lang="en-US" altLang="zh-CN" sz="16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Truly a “universal sensor gateway”</a:t>
            </a:r>
            <a:endParaRPr lang="en-US" altLang="zh-CN" sz="16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  <a:endParaRPr lang="en-US" altLang="zh-CN" sz="6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671513" y="3674268"/>
            <a:ext cx="3879850" cy="4119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600" b="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Parallelogram 11"/>
          <p:cNvSpPr/>
          <p:nvPr/>
        </p:nvSpPr>
        <p:spPr>
          <a:xfrm flipH="1" flipV="1">
            <a:off x="4898958" y="-14968"/>
            <a:ext cx="7312920" cy="6872968"/>
          </a:xfrm>
          <a:custGeom>
            <a:avLst/>
            <a:gdLst>
              <a:gd name="connsiteX0" fmla="*/ 0 w 9483602"/>
              <a:gd name="connsiteY0" fmla="*/ 6858000 h 6858000"/>
              <a:gd name="connsiteX1" fmla="*/ 922950 w 9483602"/>
              <a:gd name="connsiteY1" fmla="*/ 0 h 6858000"/>
              <a:gd name="connsiteX2" fmla="*/ 9483602 w 9483602"/>
              <a:gd name="connsiteY2" fmla="*/ 0 h 6858000"/>
              <a:gd name="connsiteX3" fmla="*/ 8560652 w 9483602"/>
              <a:gd name="connsiteY3" fmla="*/ 6858000 h 6858000"/>
              <a:gd name="connsiteX4" fmla="*/ 0 w 9483602"/>
              <a:gd name="connsiteY4" fmla="*/ 6858000 h 6858000"/>
              <a:gd name="connsiteX0-1" fmla="*/ 0 w 9483602"/>
              <a:gd name="connsiteY0-2" fmla="*/ 6872515 h 6872515"/>
              <a:gd name="connsiteX1-3" fmla="*/ 3840322 w 9483602"/>
              <a:gd name="connsiteY1-4" fmla="*/ 0 h 6872515"/>
              <a:gd name="connsiteX2-5" fmla="*/ 9483602 w 9483602"/>
              <a:gd name="connsiteY2-6" fmla="*/ 14515 h 6872515"/>
              <a:gd name="connsiteX3-7" fmla="*/ 8560652 w 9483602"/>
              <a:gd name="connsiteY3-8" fmla="*/ 6872515 h 6872515"/>
              <a:gd name="connsiteX4-9" fmla="*/ 0 w 9483602"/>
              <a:gd name="connsiteY4-10" fmla="*/ 6872515 h 6872515"/>
              <a:gd name="connsiteX0-11" fmla="*/ 0 w 9483602"/>
              <a:gd name="connsiteY0-12" fmla="*/ 6858000 h 6858000"/>
              <a:gd name="connsiteX1-13" fmla="*/ 2192950 w 9483602"/>
              <a:gd name="connsiteY1-14" fmla="*/ 7257 h 6858000"/>
              <a:gd name="connsiteX2-15" fmla="*/ 9483602 w 9483602"/>
              <a:gd name="connsiteY2-16" fmla="*/ 0 h 6858000"/>
              <a:gd name="connsiteX3-17" fmla="*/ 8560652 w 9483602"/>
              <a:gd name="connsiteY3-18" fmla="*/ 6858000 h 6858000"/>
              <a:gd name="connsiteX4-19" fmla="*/ 0 w 9483602"/>
              <a:gd name="connsiteY4-20" fmla="*/ 6858000 h 6858000"/>
              <a:gd name="connsiteX0-21" fmla="*/ 0 w 9483602"/>
              <a:gd name="connsiteY0-22" fmla="*/ 6858000 h 6858000"/>
              <a:gd name="connsiteX1-23" fmla="*/ 2275500 w 9483602"/>
              <a:gd name="connsiteY1-24" fmla="*/ 73932 h 6858000"/>
              <a:gd name="connsiteX2-25" fmla="*/ 9483602 w 9483602"/>
              <a:gd name="connsiteY2-26" fmla="*/ 0 h 6858000"/>
              <a:gd name="connsiteX3-27" fmla="*/ 8560652 w 9483602"/>
              <a:gd name="connsiteY3-28" fmla="*/ 6858000 h 6858000"/>
              <a:gd name="connsiteX4-29" fmla="*/ 0 w 9483602"/>
              <a:gd name="connsiteY4-30" fmla="*/ 6858000 h 6858000"/>
              <a:gd name="connsiteX0-31" fmla="*/ 0 w 9483602"/>
              <a:gd name="connsiteY0-32" fmla="*/ 6869793 h 6869793"/>
              <a:gd name="connsiteX1-33" fmla="*/ 2180250 w 9483602"/>
              <a:gd name="connsiteY1-34" fmla="*/ 0 h 6869793"/>
              <a:gd name="connsiteX2-35" fmla="*/ 9483602 w 9483602"/>
              <a:gd name="connsiteY2-36" fmla="*/ 11793 h 6869793"/>
              <a:gd name="connsiteX3-37" fmla="*/ 8560652 w 9483602"/>
              <a:gd name="connsiteY3-38" fmla="*/ 6869793 h 6869793"/>
              <a:gd name="connsiteX4-39" fmla="*/ 0 w 9483602"/>
              <a:gd name="connsiteY4-40" fmla="*/ 6869793 h 6869793"/>
              <a:gd name="connsiteX0-41" fmla="*/ 1185250 w 7303352"/>
              <a:gd name="connsiteY0-42" fmla="*/ 6872968 h 6872968"/>
              <a:gd name="connsiteX1-43" fmla="*/ 0 w 7303352"/>
              <a:gd name="connsiteY1-44" fmla="*/ 0 h 6872968"/>
              <a:gd name="connsiteX2-45" fmla="*/ 7303352 w 7303352"/>
              <a:gd name="connsiteY2-46" fmla="*/ 11793 h 6872968"/>
              <a:gd name="connsiteX3-47" fmla="*/ 6380402 w 7303352"/>
              <a:gd name="connsiteY3-48" fmla="*/ 6869793 h 6872968"/>
              <a:gd name="connsiteX4-49" fmla="*/ 1185250 w 7303352"/>
              <a:gd name="connsiteY4-50" fmla="*/ 6872968 h 6872968"/>
              <a:gd name="connsiteX0-51" fmla="*/ 0 w 7305552"/>
              <a:gd name="connsiteY0-52" fmla="*/ 6879318 h 6879318"/>
              <a:gd name="connsiteX1-53" fmla="*/ 2200 w 7305552"/>
              <a:gd name="connsiteY1-54" fmla="*/ 0 h 6879318"/>
              <a:gd name="connsiteX2-55" fmla="*/ 7305552 w 7305552"/>
              <a:gd name="connsiteY2-56" fmla="*/ 11793 h 6879318"/>
              <a:gd name="connsiteX3-57" fmla="*/ 6382602 w 7305552"/>
              <a:gd name="connsiteY3-58" fmla="*/ 6869793 h 6879318"/>
              <a:gd name="connsiteX4-59" fmla="*/ 0 w 7305552"/>
              <a:gd name="connsiteY4-60" fmla="*/ 6879318 h 6879318"/>
              <a:gd name="connsiteX0-61" fmla="*/ 0 w 7305552"/>
              <a:gd name="connsiteY0-62" fmla="*/ 6879318 h 6879318"/>
              <a:gd name="connsiteX1-63" fmla="*/ 2200 w 7305552"/>
              <a:gd name="connsiteY1-64" fmla="*/ 0 h 6879318"/>
              <a:gd name="connsiteX2-65" fmla="*/ 7305552 w 7305552"/>
              <a:gd name="connsiteY2-66" fmla="*/ 11793 h 6879318"/>
              <a:gd name="connsiteX3-67" fmla="*/ 6382602 w 7305552"/>
              <a:gd name="connsiteY3-68" fmla="*/ 6869793 h 6879318"/>
              <a:gd name="connsiteX4-69" fmla="*/ 0 w 7305552"/>
              <a:gd name="connsiteY4-70" fmla="*/ 6879318 h 6879318"/>
              <a:gd name="connsiteX0-71" fmla="*/ 7368 w 7312920"/>
              <a:gd name="connsiteY0-72" fmla="*/ 6872968 h 6872968"/>
              <a:gd name="connsiteX1-73" fmla="*/ 43 w 7312920"/>
              <a:gd name="connsiteY1-74" fmla="*/ 0 h 6872968"/>
              <a:gd name="connsiteX2-75" fmla="*/ 7312920 w 7312920"/>
              <a:gd name="connsiteY2-76" fmla="*/ 5443 h 6872968"/>
              <a:gd name="connsiteX3-77" fmla="*/ 6389970 w 7312920"/>
              <a:gd name="connsiteY3-78" fmla="*/ 6863443 h 6872968"/>
              <a:gd name="connsiteX4-79" fmla="*/ 7368 w 7312920"/>
              <a:gd name="connsiteY4-80" fmla="*/ 6872968 h 68729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312920" h="6872968">
                <a:moveTo>
                  <a:pt x="7368" y="6872968"/>
                </a:moveTo>
                <a:cubicBezTo>
                  <a:pt x="8101" y="4579862"/>
                  <a:pt x="-690" y="2293106"/>
                  <a:pt x="43" y="0"/>
                </a:cubicBezTo>
                <a:lnTo>
                  <a:pt x="7312920" y="5443"/>
                </a:lnTo>
                <a:lnTo>
                  <a:pt x="6389970" y="6863443"/>
                </a:lnTo>
                <a:lnTo>
                  <a:pt x="7368" y="6872968"/>
                </a:lnTo>
                <a:close/>
              </a:path>
            </a:pathLst>
          </a:custGeom>
          <a:blipFill dpi="0" rotWithShape="0">
            <a:blip r:embed="rId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3" name="Parallelogram 11"/>
          <p:cNvSpPr/>
          <p:nvPr/>
        </p:nvSpPr>
        <p:spPr>
          <a:xfrm flipH="1" flipV="1">
            <a:off x="4898958" y="0"/>
            <a:ext cx="7312920" cy="6872968"/>
          </a:xfrm>
          <a:custGeom>
            <a:avLst/>
            <a:gdLst>
              <a:gd name="connsiteX0" fmla="*/ 0 w 9483602"/>
              <a:gd name="connsiteY0" fmla="*/ 6858000 h 6858000"/>
              <a:gd name="connsiteX1" fmla="*/ 922950 w 9483602"/>
              <a:gd name="connsiteY1" fmla="*/ 0 h 6858000"/>
              <a:gd name="connsiteX2" fmla="*/ 9483602 w 9483602"/>
              <a:gd name="connsiteY2" fmla="*/ 0 h 6858000"/>
              <a:gd name="connsiteX3" fmla="*/ 8560652 w 9483602"/>
              <a:gd name="connsiteY3" fmla="*/ 6858000 h 6858000"/>
              <a:gd name="connsiteX4" fmla="*/ 0 w 9483602"/>
              <a:gd name="connsiteY4" fmla="*/ 6858000 h 6858000"/>
              <a:gd name="connsiteX0-1" fmla="*/ 0 w 9483602"/>
              <a:gd name="connsiteY0-2" fmla="*/ 6872515 h 6872515"/>
              <a:gd name="connsiteX1-3" fmla="*/ 3840322 w 9483602"/>
              <a:gd name="connsiteY1-4" fmla="*/ 0 h 6872515"/>
              <a:gd name="connsiteX2-5" fmla="*/ 9483602 w 9483602"/>
              <a:gd name="connsiteY2-6" fmla="*/ 14515 h 6872515"/>
              <a:gd name="connsiteX3-7" fmla="*/ 8560652 w 9483602"/>
              <a:gd name="connsiteY3-8" fmla="*/ 6872515 h 6872515"/>
              <a:gd name="connsiteX4-9" fmla="*/ 0 w 9483602"/>
              <a:gd name="connsiteY4-10" fmla="*/ 6872515 h 6872515"/>
              <a:gd name="connsiteX0-11" fmla="*/ 0 w 9483602"/>
              <a:gd name="connsiteY0-12" fmla="*/ 6858000 h 6858000"/>
              <a:gd name="connsiteX1-13" fmla="*/ 2192950 w 9483602"/>
              <a:gd name="connsiteY1-14" fmla="*/ 7257 h 6858000"/>
              <a:gd name="connsiteX2-15" fmla="*/ 9483602 w 9483602"/>
              <a:gd name="connsiteY2-16" fmla="*/ 0 h 6858000"/>
              <a:gd name="connsiteX3-17" fmla="*/ 8560652 w 9483602"/>
              <a:gd name="connsiteY3-18" fmla="*/ 6858000 h 6858000"/>
              <a:gd name="connsiteX4-19" fmla="*/ 0 w 9483602"/>
              <a:gd name="connsiteY4-20" fmla="*/ 6858000 h 6858000"/>
              <a:gd name="connsiteX0-21" fmla="*/ 0 w 9483602"/>
              <a:gd name="connsiteY0-22" fmla="*/ 6858000 h 6858000"/>
              <a:gd name="connsiteX1-23" fmla="*/ 2275500 w 9483602"/>
              <a:gd name="connsiteY1-24" fmla="*/ 73932 h 6858000"/>
              <a:gd name="connsiteX2-25" fmla="*/ 9483602 w 9483602"/>
              <a:gd name="connsiteY2-26" fmla="*/ 0 h 6858000"/>
              <a:gd name="connsiteX3-27" fmla="*/ 8560652 w 9483602"/>
              <a:gd name="connsiteY3-28" fmla="*/ 6858000 h 6858000"/>
              <a:gd name="connsiteX4-29" fmla="*/ 0 w 9483602"/>
              <a:gd name="connsiteY4-30" fmla="*/ 6858000 h 6858000"/>
              <a:gd name="connsiteX0-31" fmla="*/ 0 w 9483602"/>
              <a:gd name="connsiteY0-32" fmla="*/ 6869793 h 6869793"/>
              <a:gd name="connsiteX1-33" fmla="*/ 2180250 w 9483602"/>
              <a:gd name="connsiteY1-34" fmla="*/ 0 h 6869793"/>
              <a:gd name="connsiteX2-35" fmla="*/ 9483602 w 9483602"/>
              <a:gd name="connsiteY2-36" fmla="*/ 11793 h 6869793"/>
              <a:gd name="connsiteX3-37" fmla="*/ 8560652 w 9483602"/>
              <a:gd name="connsiteY3-38" fmla="*/ 6869793 h 6869793"/>
              <a:gd name="connsiteX4-39" fmla="*/ 0 w 9483602"/>
              <a:gd name="connsiteY4-40" fmla="*/ 6869793 h 6869793"/>
              <a:gd name="connsiteX0-41" fmla="*/ 1185250 w 7303352"/>
              <a:gd name="connsiteY0-42" fmla="*/ 6872968 h 6872968"/>
              <a:gd name="connsiteX1-43" fmla="*/ 0 w 7303352"/>
              <a:gd name="connsiteY1-44" fmla="*/ 0 h 6872968"/>
              <a:gd name="connsiteX2-45" fmla="*/ 7303352 w 7303352"/>
              <a:gd name="connsiteY2-46" fmla="*/ 11793 h 6872968"/>
              <a:gd name="connsiteX3-47" fmla="*/ 6380402 w 7303352"/>
              <a:gd name="connsiteY3-48" fmla="*/ 6869793 h 6872968"/>
              <a:gd name="connsiteX4-49" fmla="*/ 1185250 w 7303352"/>
              <a:gd name="connsiteY4-50" fmla="*/ 6872968 h 6872968"/>
              <a:gd name="connsiteX0-51" fmla="*/ 0 w 7305552"/>
              <a:gd name="connsiteY0-52" fmla="*/ 6879318 h 6879318"/>
              <a:gd name="connsiteX1-53" fmla="*/ 2200 w 7305552"/>
              <a:gd name="connsiteY1-54" fmla="*/ 0 h 6879318"/>
              <a:gd name="connsiteX2-55" fmla="*/ 7305552 w 7305552"/>
              <a:gd name="connsiteY2-56" fmla="*/ 11793 h 6879318"/>
              <a:gd name="connsiteX3-57" fmla="*/ 6382602 w 7305552"/>
              <a:gd name="connsiteY3-58" fmla="*/ 6869793 h 6879318"/>
              <a:gd name="connsiteX4-59" fmla="*/ 0 w 7305552"/>
              <a:gd name="connsiteY4-60" fmla="*/ 6879318 h 6879318"/>
              <a:gd name="connsiteX0-61" fmla="*/ 0 w 7305552"/>
              <a:gd name="connsiteY0-62" fmla="*/ 6879318 h 6879318"/>
              <a:gd name="connsiteX1-63" fmla="*/ 2200 w 7305552"/>
              <a:gd name="connsiteY1-64" fmla="*/ 0 h 6879318"/>
              <a:gd name="connsiteX2-65" fmla="*/ 7305552 w 7305552"/>
              <a:gd name="connsiteY2-66" fmla="*/ 11793 h 6879318"/>
              <a:gd name="connsiteX3-67" fmla="*/ 6382602 w 7305552"/>
              <a:gd name="connsiteY3-68" fmla="*/ 6869793 h 6879318"/>
              <a:gd name="connsiteX4-69" fmla="*/ 0 w 7305552"/>
              <a:gd name="connsiteY4-70" fmla="*/ 6879318 h 6879318"/>
              <a:gd name="connsiteX0-71" fmla="*/ 7368 w 7312920"/>
              <a:gd name="connsiteY0-72" fmla="*/ 6872968 h 6872968"/>
              <a:gd name="connsiteX1-73" fmla="*/ 43 w 7312920"/>
              <a:gd name="connsiteY1-74" fmla="*/ 0 h 6872968"/>
              <a:gd name="connsiteX2-75" fmla="*/ 7312920 w 7312920"/>
              <a:gd name="connsiteY2-76" fmla="*/ 5443 h 6872968"/>
              <a:gd name="connsiteX3-77" fmla="*/ 6389970 w 7312920"/>
              <a:gd name="connsiteY3-78" fmla="*/ 6863443 h 6872968"/>
              <a:gd name="connsiteX4-79" fmla="*/ 7368 w 7312920"/>
              <a:gd name="connsiteY4-80" fmla="*/ 6872968 h 68729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312920" h="6872968">
                <a:moveTo>
                  <a:pt x="7368" y="6872968"/>
                </a:moveTo>
                <a:cubicBezTo>
                  <a:pt x="8101" y="4579862"/>
                  <a:pt x="-690" y="2293106"/>
                  <a:pt x="43" y="0"/>
                </a:cubicBezTo>
                <a:lnTo>
                  <a:pt x="7312920" y="5443"/>
                </a:lnTo>
                <a:lnTo>
                  <a:pt x="6389970" y="6863443"/>
                </a:lnTo>
                <a:lnTo>
                  <a:pt x="7368" y="6872968"/>
                </a:lnTo>
                <a:close/>
              </a:path>
            </a:pathLst>
          </a:custGeom>
          <a:solidFill>
            <a:schemeClr val="tx1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29*130"/>
  <p:tag name="TABLE_ENDDRAG_RECT" val="144*210*329*130"/>
</p:tagLst>
</file>

<file path=ppt/tags/tag2.xml><?xml version="1.0" encoding="utf-8"?>
<p:tagLst xmlns:p="http://schemas.openxmlformats.org/presentationml/2006/main">
  <p:tag name="TABLE_ENDDRAG_ORIGIN_RECT" val="329*130"/>
  <p:tag name="TABLE_ENDDRAG_RECT" val="144*210*329*130"/>
</p:tagLst>
</file>

<file path=ppt/tags/tag3.xml><?xml version="1.0" encoding="utf-8"?>
<p:tagLst xmlns:p="http://schemas.openxmlformats.org/presentationml/2006/main">
  <p:tag name="TABLE_ENDDRAG_ORIGIN_RECT" val="243*368"/>
  <p:tag name="TABLE_ENDDRAG_RECT" val="633*106*243*368"/>
</p:tagLst>
</file>

<file path=ppt/tags/tag4.xml><?xml version="1.0" encoding="utf-8"?>
<p:tagLst xmlns:p="http://schemas.openxmlformats.org/presentationml/2006/main">
  <p:tag name="KSO_WM_DIAGRAM_VIRTUALLY_FRAME" val="{&quot;height&quot;:409.9000787401575,&quot;left&quot;:0,&quot;top&quot;:88.99992125984252,&quot;width&quot;:934.6666929133859}"/>
</p:tagLst>
</file>

<file path=ppt/tags/tag5.xml><?xml version="1.0" encoding="utf-8"?>
<p:tagLst xmlns:p="http://schemas.openxmlformats.org/presentationml/2006/main">
  <p:tag name="KSO_WM_DIAGRAM_VIRTUALLY_FRAME" val="{&quot;height&quot;:409.9000787401575,&quot;left&quot;:0,&quot;top&quot;:88.99992125984252,&quot;width&quot;:934.6666929133859}"/>
</p:tagLst>
</file>

<file path=ppt/tags/tag6.xml><?xml version="1.0" encoding="utf-8"?>
<p:tagLst xmlns:p="http://schemas.openxmlformats.org/presentationml/2006/main">
  <p:tag name="KSO_WM_DIAGRAM_VIRTUALLY_FRAME" val="{&quot;height&quot;:409.9000787401575,&quot;left&quot;:0,&quot;top&quot;:88.99992125984252,&quot;width&quot;:934.6666929133859}"/>
</p:tagLst>
</file>

<file path=ppt/tags/tag7.xml><?xml version="1.0" encoding="utf-8"?>
<p:tagLst xmlns:p="http://schemas.openxmlformats.org/presentationml/2006/main">
  <p:tag name="KSO_WM_DIAGRAM_VIRTUALLY_FRAME" val="{&quot;height&quot;:409.9000787401575,&quot;left&quot;:0,&quot;top&quot;:88.99992125984252,&quot;width&quot;:934.6666929133859}"/>
</p:tagLst>
</file>

<file path=ppt/tags/tag8.xml><?xml version="1.0" encoding="utf-8"?>
<p:tagLst xmlns:p="http://schemas.openxmlformats.org/presentationml/2006/main">
  <p:tag name="KSO_WM_DIAGRAM_VIRTUALLY_FRAME" val="{&quot;height&quot;:409.9000787401575,&quot;left&quot;:0,&quot;top&quot;:88.99992125984252,&quot;width&quot;:934.6666929133859}"/>
</p:tagLst>
</file>

<file path=ppt/tags/tag12.xml><?xml version="1.0" encoding="utf-8"?>
<p:tagLst xmlns:p="http://schemas.openxmlformats.org/presentationml/2006/main">
  <p:tag name="commondata" val="eyJoZGlkIjoiZTJhZWUxOTllNzdiZjFjZWY0MjgxMmE4MzI0NGU1ZWMifQ=="/>
</p:tagLst>
</file>

<file path=ppt/theme/theme1.xml><?xml version="1.0" encoding="utf-8"?>
<a:theme xmlns:a="http://schemas.openxmlformats.org/drawingml/2006/main" name="Office 主题​​">
  <a:themeElements>
    <a:clrScheme name="RAK colors">
      <a:dk1>
        <a:srgbClr val="3E3D3E"/>
      </a:dk1>
      <a:lt1>
        <a:sysClr val="window" lastClr="FFFFFF"/>
      </a:lt1>
      <a:dk2>
        <a:srgbClr val="0061C6"/>
      </a:dk2>
      <a:lt2>
        <a:srgbClr val="97999B"/>
      </a:lt2>
      <a:accent1>
        <a:srgbClr val="582C83"/>
      </a:accent1>
      <a:accent2>
        <a:srgbClr val="003B5C"/>
      </a:accent2>
      <a:accent3>
        <a:srgbClr val="008CA0"/>
      </a:accent3>
      <a:accent4>
        <a:srgbClr val="00A3E0"/>
      </a:accent4>
      <a:accent5>
        <a:srgbClr val="BBBCBC"/>
      </a:accent5>
      <a:accent6>
        <a:srgbClr val="3E3D3E"/>
      </a:accent6>
      <a:hlink>
        <a:srgbClr val="FFFFFF"/>
      </a:hlink>
      <a:folHlink>
        <a:srgbClr val="582C83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alpha val="5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Custom 2">
      <a:dk1>
        <a:srgbClr val="0C0C0C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70C0"/>
      </a:hlink>
      <a:folHlink>
        <a:srgbClr val="1E4E7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E9D9547910E148A6873D1791016491" ma:contentTypeVersion="13" ma:contentTypeDescription="Create a new document." ma:contentTypeScope="" ma:versionID="a3ad65c9ba4170aaa42002bbc7d48dc2">
  <xsd:schema xmlns:xsd="http://www.w3.org/2001/XMLSchema" xmlns:xs="http://www.w3.org/2001/XMLSchema" xmlns:p="http://schemas.microsoft.com/office/2006/metadata/properties" xmlns:ns2="f16ccdd6-92d4-410c-b93b-5ef21578a190" xmlns:ns3="c81de721-ee3c-43bd-b8c0-089649e7ae5b" targetNamespace="http://schemas.microsoft.com/office/2006/metadata/properties" ma:root="true" ma:fieldsID="4f00448ebcd46e4c4167045d3022f447" ns2:_="" ns3:_="">
    <xsd:import namespace="f16ccdd6-92d4-410c-b93b-5ef21578a190"/>
    <xsd:import namespace="c81de721-ee3c-43bd-b8c0-089649e7ae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6ccdd6-92d4-410c-b93b-5ef21578a1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description="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1de721-ee3c-43bd-b8c0-089649e7ae5b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9.xml><?xml version="1.0" encoding="utf-8"?>
<ds:datastoreItem xmlns:ds="http://schemas.openxmlformats.org/officeDocument/2006/customXml" ds:itemID="{892E01FB-32BD-4FE1-8F33-9BE20FFC1376}">
  <ds:schemaRefs/>
</ds:datastoreItem>
</file>

<file path=customXml/itemProps10.xml><?xml version="1.0" encoding="utf-8"?>
<ds:datastoreItem xmlns:ds="http://schemas.openxmlformats.org/officeDocument/2006/customXml" ds:itemID="{FDF7046D-F2E7-4A1E-ACA1-258D9154735F}">
  <ds:schemaRefs/>
</ds:datastoreItem>
</file>

<file path=customXml/itemProps11.xml><?xml version="1.0" encoding="utf-8"?>
<ds:datastoreItem xmlns:ds="http://schemas.openxmlformats.org/officeDocument/2006/customXml" ds:itemID="{25C7CA96-C358-448E-8ED6-653CF8D9819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About RAK_Chi_v1</Template>
  <TotalTime>0</TotalTime>
  <Words>3418</Words>
  <Application>WPS 演示</Application>
  <PresentationFormat>宽屏</PresentationFormat>
  <Paragraphs>175</Paragraphs>
  <Slides>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31" baseType="lpstr">
      <vt:lpstr>Arial</vt:lpstr>
      <vt:lpstr>宋体</vt:lpstr>
      <vt:lpstr>Wingdings</vt:lpstr>
      <vt:lpstr>思源黑体 CN Bold</vt:lpstr>
      <vt:lpstr>黑体</vt:lpstr>
      <vt:lpstr>Helvetica</vt:lpstr>
      <vt:lpstr>思源黑体 CN Regular</vt:lpstr>
      <vt:lpstr>微软雅黑</vt:lpstr>
      <vt:lpstr>Arial</vt:lpstr>
      <vt:lpstr>KSOF7FC4CF2A</vt:lpstr>
      <vt:lpstr>Segoe Print</vt:lpstr>
      <vt:lpstr>KSOFB4AB0A6B</vt:lpstr>
      <vt:lpstr>KSOF28C8607A</vt:lpstr>
      <vt:lpstr>Arial Unicode MS</vt:lpstr>
      <vt:lpstr>Calibri</vt:lpstr>
      <vt:lpstr>等线</vt:lpstr>
      <vt:lpstr>思源黑体 CN Bold</vt:lpstr>
      <vt:lpstr>思源黑体 CN Regular</vt:lpstr>
      <vt:lpstr>文道潮黑体</vt:lpstr>
      <vt:lpstr>Helvetica LT Pro</vt:lpstr>
      <vt:lpstr>方正大黑体_GBK</vt:lpstr>
      <vt:lpstr>Office 主题​​</vt:lpstr>
      <vt:lpstr>Custom Design</vt:lpstr>
      <vt:lpstr>PowerPoint 演示文稿</vt:lpstr>
      <vt:lpstr>RAKSensorHub + Meshtastic POC Demo  Plug &amp; Play · Wireless Sensor Aggregation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瑞科慧联</dc:title>
  <dc:creator>Anson Yang</dc:creator>
  <cp:lastModifiedBy>起名难的一批</cp:lastModifiedBy>
  <cp:revision>21</cp:revision>
  <dcterms:created xsi:type="dcterms:W3CDTF">2022-01-26T09:52:00Z</dcterms:created>
  <dcterms:modified xsi:type="dcterms:W3CDTF">2026-04-07T11:38:54Z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0x010100FEE9D9547910E148A6873D1791016491</vt:lpwstr>
  </property>
  <property fmtid="{D5CDD505-2E9C-101B-9397-08002B2CF9AE}" pid="3" name="ICV">
    <vt:lpwstr>16601ECC228441099247702923E02B63_13</vt:lpwstr>
  </property>
  <property fmtid="{D5CDD505-2E9C-101B-9397-08002B2CF9AE}" pid="4" name="KSOProductBuildVer">
    <vt:lpwstr>2052-12.1.0.25225</vt:lpwstr>
  </property>
</Properties>
</file>